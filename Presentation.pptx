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0" r:id="rId1"/>
  </p:sldMasterIdLst>
  <p:notesMasterIdLst>
    <p:notesMasterId r:id="rId12"/>
  </p:notesMasterIdLst>
  <p:sldIdLst>
    <p:sldId id="256" r:id="rId2"/>
    <p:sldId id="257" r:id="rId3"/>
    <p:sldId id="258"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563F7C-357E-46BB-AECA-9B1467B5AB7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E49DC3F-612B-43BC-A2A3-12621C614AC5}">
      <dgm:prSet/>
      <dgm:spPr/>
      <dgm:t>
        <a:bodyPr/>
        <a:lstStyle/>
        <a:p>
          <a:pPr rtl="0"/>
          <a:r>
            <a:rPr lang="fr-FR" dirty="0" smtClean="0"/>
            <a:t>Le terme parapharmacie désigne l'ensemble des produits de soins et d'hygiène destinés à être vendus par un pharmacien mais qui ne nécessitent pas de prescription médicale. La vente de tels produits n’est donc pas uniquement réservée aux pharmaciens, et peuvent être proposés par n’importe quelle grande ou moyenne surface à condition qu'elle dispose d'un pharmacien diplômé dans son effectif</a:t>
          </a:r>
          <a:endParaRPr lang="en-US" dirty="0"/>
        </a:p>
      </dgm:t>
    </dgm:pt>
    <dgm:pt modelId="{712154D4-BD3C-4EF5-9953-2628A4869640}" type="parTrans" cxnId="{37499C41-9107-44C2-AC80-BEEA853A18D5}">
      <dgm:prSet/>
      <dgm:spPr/>
      <dgm:t>
        <a:bodyPr/>
        <a:lstStyle/>
        <a:p>
          <a:endParaRPr lang="en-US"/>
        </a:p>
      </dgm:t>
    </dgm:pt>
    <dgm:pt modelId="{F323C3D4-6F0F-4632-910E-CDE74AD670E6}" type="sibTrans" cxnId="{37499C41-9107-44C2-AC80-BEEA853A18D5}">
      <dgm:prSet/>
      <dgm:spPr/>
      <dgm:t>
        <a:bodyPr/>
        <a:lstStyle/>
        <a:p>
          <a:endParaRPr lang="en-US"/>
        </a:p>
      </dgm:t>
    </dgm:pt>
    <dgm:pt modelId="{036298E1-7EBD-49C7-903A-9E49EF92ED99}" type="pres">
      <dgm:prSet presAssocID="{99563F7C-357E-46BB-AECA-9B1467B5AB72}" presName="linear" presStyleCnt="0">
        <dgm:presLayoutVars>
          <dgm:animLvl val="lvl"/>
          <dgm:resizeHandles val="exact"/>
        </dgm:presLayoutVars>
      </dgm:prSet>
      <dgm:spPr/>
      <dgm:t>
        <a:bodyPr/>
        <a:lstStyle/>
        <a:p>
          <a:endParaRPr lang="en-US"/>
        </a:p>
      </dgm:t>
    </dgm:pt>
    <dgm:pt modelId="{0FCB57FA-8F12-4099-9E3F-DF56272FA8BC}" type="pres">
      <dgm:prSet presAssocID="{BE49DC3F-612B-43BC-A2A3-12621C614AC5}" presName="parentText" presStyleLbl="node1" presStyleIdx="0" presStyleCnt="1">
        <dgm:presLayoutVars>
          <dgm:chMax val="0"/>
          <dgm:bulletEnabled val="1"/>
        </dgm:presLayoutVars>
      </dgm:prSet>
      <dgm:spPr/>
      <dgm:t>
        <a:bodyPr/>
        <a:lstStyle/>
        <a:p>
          <a:endParaRPr lang="en-US"/>
        </a:p>
      </dgm:t>
    </dgm:pt>
  </dgm:ptLst>
  <dgm:cxnLst>
    <dgm:cxn modelId="{37499C41-9107-44C2-AC80-BEEA853A18D5}" srcId="{99563F7C-357E-46BB-AECA-9B1467B5AB72}" destId="{BE49DC3F-612B-43BC-A2A3-12621C614AC5}" srcOrd="0" destOrd="0" parTransId="{712154D4-BD3C-4EF5-9953-2628A4869640}" sibTransId="{F323C3D4-6F0F-4632-910E-CDE74AD670E6}"/>
    <dgm:cxn modelId="{F715F7FA-E948-4232-B69D-2DC54EBE3D8D}" type="presOf" srcId="{99563F7C-357E-46BB-AECA-9B1467B5AB72}" destId="{036298E1-7EBD-49C7-903A-9E49EF92ED99}" srcOrd="0" destOrd="0" presId="urn:microsoft.com/office/officeart/2005/8/layout/vList2"/>
    <dgm:cxn modelId="{019B6861-8A38-41CC-856A-3FFC84C5CD33}" type="presOf" srcId="{BE49DC3F-612B-43BC-A2A3-12621C614AC5}" destId="{0FCB57FA-8F12-4099-9E3F-DF56272FA8BC}" srcOrd="0" destOrd="0" presId="urn:microsoft.com/office/officeart/2005/8/layout/vList2"/>
    <dgm:cxn modelId="{23B714A3-F920-42D6-B083-752EAF924D7C}" type="presParOf" srcId="{036298E1-7EBD-49C7-903A-9E49EF92ED99}" destId="{0FCB57FA-8F12-4099-9E3F-DF56272FA8BC}"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F1D07A-F150-47AB-B1E9-C6CC246A7B9C}" type="doc">
      <dgm:prSet loTypeId="urn:microsoft.com/office/officeart/2005/8/layout/architecture" loCatId="hierarchy" qsTypeId="urn:microsoft.com/office/officeart/2005/8/quickstyle/simple1" qsCatId="simple" csTypeId="urn:microsoft.com/office/officeart/2005/8/colors/accent1_2" csCatId="accent1"/>
      <dgm:spPr/>
      <dgm:t>
        <a:bodyPr/>
        <a:lstStyle/>
        <a:p>
          <a:endParaRPr lang="en-US"/>
        </a:p>
      </dgm:t>
    </dgm:pt>
    <dgm:pt modelId="{6E1C912D-17F0-4125-961B-07F21D58F5D5}">
      <dgm:prSet custT="1"/>
      <dgm:spPr/>
      <dgm:t>
        <a:bodyPr/>
        <a:lstStyle/>
        <a:p>
          <a:pPr rtl="0"/>
          <a:r>
            <a:rPr lang="fr-FR" sz="1700" dirty="0" smtClean="0"/>
            <a:t>Alors qu'à l'origine on ne trouvait ces produits qu'en pharmacie, la croissance de ce marché et sa </a:t>
          </a:r>
          <a:r>
            <a:rPr lang="fr-FR" sz="1700" dirty="0" err="1" smtClean="0"/>
            <a:t>diversiﬁcation</a:t>
          </a:r>
          <a:r>
            <a:rPr lang="fr-FR" sz="1700" dirty="0" smtClean="0"/>
            <a:t> ont conduit à la multiplication des réseaux de distribution</a:t>
          </a:r>
          <a:endParaRPr lang="en-US" sz="1700" dirty="0"/>
        </a:p>
      </dgm:t>
    </dgm:pt>
    <dgm:pt modelId="{A615D327-A29A-4C59-85AC-EDDD189CBA14}" type="parTrans" cxnId="{0B5A803E-2B44-45B8-BA17-EF0F3F8E2D3F}">
      <dgm:prSet/>
      <dgm:spPr/>
      <dgm:t>
        <a:bodyPr/>
        <a:lstStyle/>
        <a:p>
          <a:endParaRPr lang="en-US"/>
        </a:p>
      </dgm:t>
    </dgm:pt>
    <dgm:pt modelId="{58A637C0-6931-4A3F-8B10-CF8186104781}" type="sibTrans" cxnId="{0B5A803E-2B44-45B8-BA17-EF0F3F8E2D3F}">
      <dgm:prSet/>
      <dgm:spPr/>
      <dgm:t>
        <a:bodyPr/>
        <a:lstStyle/>
        <a:p>
          <a:endParaRPr lang="en-US"/>
        </a:p>
      </dgm:t>
    </dgm:pt>
    <dgm:pt modelId="{6808156F-E009-45AB-BD41-8346D33F20B6}" type="pres">
      <dgm:prSet presAssocID="{C4F1D07A-F150-47AB-B1E9-C6CC246A7B9C}" presName="Name0" presStyleCnt="0">
        <dgm:presLayoutVars>
          <dgm:chPref val="1"/>
          <dgm:dir/>
          <dgm:animOne val="branch"/>
          <dgm:animLvl val="lvl"/>
          <dgm:resizeHandles/>
        </dgm:presLayoutVars>
      </dgm:prSet>
      <dgm:spPr/>
      <dgm:t>
        <a:bodyPr/>
        <a:lstStyle/>
        <a:p>
          <a:endParaRPr lang="en-US"/>
        </a:p>
      </dgm:t>
    </dgm:pt>
    <dgm:pt modelId="{8EA002B9-A641-4347-82DF-8412745D2F58}" type="pres">
      <dgm:prSet presAssocID="{6E1C912D-17F0-4125-961B-07F21D58F5D5}" presName="vertOne" presStyleCnt="0"/>
      <dgm:spPr/>
    </dgm:pt>
    <dgm:pt modelId="{8433AEDC-9FF4-470F-B99A-F45457F1BC29}" type="pres">
      <dgm:prSet presAssocID="{6E1C912D-17F0-4125-961B-07F21D58F5D5}" presName="txOne" presStyleLbl="node0" presStyleIdx="0" presStyleCnt="1">
        <dgm:presLayoutVars>
          <dgm:chPref val="3"/>
        </dgm:presLayoutVars>
      </dgm:prSet>
      <dgm:spPr/>
      <dgm:t>
        <a:bodyPr/>
        <a:lstStyle/>
        <a:p>
          <a:endParaRPr lang="en-US"/>
        </a:p>
      </dgm:t>
    </dgm:pt>
    <dgm:pt modelId="{D17053B6-633C-4F42-9221-1F1D8574EC79}" type="pres">
      <dgm:prSet presAssocID="{6E1C912D-17F0-4125-961B-07F21D58F5D5}" presName="horzOne" presStyleCnt="0"/>
      <dgm:spPr/>
    </dgm:pt>
  </dgm:ptLst>
  <dgm:cxnLst>
    <dgm:cxn modelId="{F57283E5-20B5-45FE-805A-D5BB2BDE23AE}" type="presOf" srcId="{C4F1D07A-F150-47AB-B1E9-C6CC246A7B9C}" destId="{6808156F-E009-45AB-BD41-8346D33F20B6}" srcOrd="0" destOrd="0" presId="urn:microsoft.com/office/officeart/2005/8/layout/architecture"/>
    <dgm:cxn modelId="{0B5A803E-2B44-45B8-BA17-EF0F3F8E2D3F}" srcId="{C4F1D07A-F150-47AB-B1E9-C6CC246A7B9C}" destId="{6E1C912D-17F0-4125-961B-07F21D58F5D5}" srcOrd="0" destOrd="0" parTransId="{A615D327-A29A-4C59-85AC-EDDD189CBA14}" sibTransId="{58A637C0-6931-4A3F-8B10-CF8186104781}"/>
    <dgm:cxn modelId="{1D6BB311-D64E-4C3D-841C-0967BE15F7EC}" type="presOf" srcId="{6E1C912D-17F0-4125-961B-07F21D58F5D5}" destId="{8433AEDC-9FF4-470F-B99A-F45457F1BC29}" srcOrd="0" destOrd="0" presId="urn:microsoft.com/office/officeart/2005/8/layout/architecture"/>
    <dgm:cxn modelId="{374F5DE3-7D39-420E-A402-200BE29291A1}" type="presParOf" srcId="{6808156F-E009-45AB-BD41-8346D33F20B6}" destId="{8EA002B9-A641-4347-82DF-8412745D2F58}" srcOrd="0" destOrd="0" presId="urn:microsoft.com/office/officeart/2005/8/layout/architecture"/>
    <dgm:cxn modelId="{F7973DE6-4497-444B-A365-221AC82C1E93}" type="presParOf" srcId="{8EA002B9-A641-4347-82DF-8412745D2F58}" destId="{8433AEDC-9FF4-470F-B99A-F45457F1BC29}" srcOrd="0" destOrd="0" presId="urn:microsoft.com/office/officeart/2005/8/layout/architecture"/>
    <dgm:cxn modelId="{DFD1534D-671A-419E-AFE9-6E709F498018}" type="presParOf" srcId="{8EA002B9-A641-4347-82DF-8412745D2F58}" destId="{D17053B6-633C-4F42-9221-1F1D8574EC79}" srcOrd="1" destOrd="0" presId="urn:microsoft.com/office/officeart/2005/8/layout/architecture"/>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9E74FA-74A2-40FC-AD11-E82AFC277F2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59BE8DE-47BD-4CA2-9AAE-E5123EAB98C7}">
      <dgm:prSet/>
      <dgm:spPr/>
      <dgm:t>
        <a:bodyPr/>
        <a:lstStyle/>
        <a:p>
          <a:pPr rtl="0"/>
          <a:r>
            <a:rPr lang="fr-FR" dirty="0" smtClean="0"/>
            <a:t>Le choix d'un </a:t>
          </a:r>
          <a:r>
            <a:rPr lang="fr-FR" dirty="0" err="1" smtClean="0"/>
            <a:t>framework</a:t>
          </a:r>
          <a:r>
            <a:rPr lang="fr-FR" dirty="0" smtClean="0"/>
            <a:t> est personnel, il dépend de nos préférences, mais aussi de notre cahier des charges. </a:t>
          </a:r>
          <a:r>
            <a:rPr lang="fr-FR" dirty="0" err="1" smtClean="0"/>
            <a:t>Symfony</a:t>
          </a:r>
          <a:r>
            <a:rPr lang="fr-FR" dirty="0" smtClean="0"/>
            <a:t> peut donc faciliter améliorer grandement la productivité pour un gros projet mais peut aussi s'avérer trop lourd pour un petit site.</a:t>
          </a:r>
          <a:endParaRPr lang="en-US" dirty="0"/>
        </a:p>
      </dgm:t>
    </dgm:pt>
    <dgm:pt modelId="{28527965-46B6-48B0-A21C-AF120FE3EA1D}" type="parTrans" cxnId="{8A287FE5-47D2-4929-B7A3-FDC90B47ADBC}">
      <dgm:prSet/>
      <dgm:spPr/>
      <dgm:t>
        <a:bodyPr/>
        <a:lstStyle/>
        <a:p>
          <a:endParaRPr lang="en-US"/>
        </a:p>
      </dgm:t>
    </dgm:pt>
    <dgm:pt modelId="{DE305F9E-7B60-4AA1-B060-90979EC989D1}" type="sibTrans" cxnId="{8A287FE5-47D2-4929-B7A3-FDC90B47ADBC}">
      <dgm:prSet/>
      <dgm:spPr/>
      <dgm:t>
        <a:bodyPr/>
        <a:lstStyle/>
        <a:p>
          <a:endParaRPr lang="en-US"/>
        </a:p>
      </dgm:t>
    </dgm:pt>
    <dgm:pt modelId="{2B2E7B23-3243-4B56-B24C-89B3D5645235}" type="pres">
      <dgm:prSet presAssocID="{5D9E74FA-74A2-40FC-AD11-E82AFC277F20}" presName="linear" presStyleCnt="0">
        <dgm:presLayoutVars>
          <dgm:animLvl val="lvl"/>
          <dgm:resizeHandles val="exact"/>
        </dgm:presLayoutVars>
      </dgm:prSet>
      <dgm:spPr/>
      <dgm:t>
        <a:bodyPr/>
        <a:lstStyle/>
        <a:p>
          <a:endParaRPr lang="en-US"/>
        </a:p>
      </dgm:t>
    </dgm:pt>
    <dgm:pt modelId="{6C091BDB-DE4E-4772-A232-B96E114CD6EB}" type="pres">
      <dgm:prSet presAssocID="{159BE8DE-47BD-4CA2-9AAE-E5123EAB98C7}" presName="parentText" presStyleLbl="node1" presStyleIdx="0" presStyleCnt="1">
        <dgm:presLayoutVars>
          <dgm:chMax val="0"/>
          <dgm:bulletEnabled val="1"/>
        </dgm:presLayoutVars>
      </dgm:prSet>
      <dgm:spPr/>
      <dgm:t>
        <a:bodyPr/>
        <a:lstStyle/>
        <a:p>
          <a:endParaRPr lang="en-US"/>
        </a:p>
      </dgm:t>
    </dgm:pt>
  </dgm:ptLst>
  <dgm:cxnLst>
    <dgm:cxn modelId="{8A287FE5-47D2-4929-B7A3-FDC90B47ADBC}" srcId="{5D9E74FA-74A2-40FC-AD11-E82AFC277F20}" destId="{159BE8DE-47BD-4CA2-9AAE-E5123EAB98C7}" srcOrd="0" destOrd="0" parTransId="{28527965-46B6-48B0-A21C-AF120FE3EA1D}" sibTransId="{DE305F9E-7B60-4AA1-B060-90979EC989D1}"/>
    <dgm:cxn modelId="{2A99D4AC-4EDE-4072-BD1E-28DF3C55588C}" type="presOf" srcId="{159BE8DE-47BD-4CA2-9AAE-E5123EAB98C7}" destId="{6C091BDB-DE4E-4772-A232-B96E114CD6EB}" srcOrd="0" destOrd="0" presId="urn:microsoft.com/office/officeart/2005/8/layout/vList2"/>
    <dgm:cxn modelId="{34C4E4E7-E9FF-4F95-B53D-C78431563CA9}" type="presOf" srcId="{5D9E74FA-74A2-40FC-AD11-E82AFC277F20}" destId="{2B2E7B23-3243-4B56-B24C-89B3D5645235}" srcOrd="0" destOrd="0" presId="urn:microsoft.com/office/officeart/2005/8/layout/vList2"/>
    <dgm:cxn modelId="{03094C4F-CA77-454E-B2E4-8A5F7F8D362A}" type="presParOf" srcId="{2B2E7B23-3243-4B56-B24C-89B3D5645235}" destId="{6C091BDB-DE4E-4772-A232-B96E114CD6E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B57FA-8F12-4099-9E3F-DF56272FA8BC}">
      <dsp:nvSpPr>
        <dsp:cNvPr id="0" name=""/>
        <dsp:cNvSpPr/>
      </dsp:nvSpPr>
      <dsp:spPr>
        <a:xfrm>
          <a:off x="0" y="2002"/>
          <a:ext cx="8763002" cy="17503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fr-FR" sz="1700" kern="1200" dirty="0" smtClean="0"/>
            <a:t>Le terme parapharmacie désigne l'ensemble des produits de soins et d'hygiène destinés à être vendus par un pharmacien mais qui ne nécessitent pas de prescription médicale. La vente de tels produits n’est donc pas uniquement réservée aux pharmaciens, et peuvent être proposés par n’importe quelle grande ou moyenne surface à condition qu'elle dispose d'un pharmacien diplômé dans son effectif</a:t>
          </a:r>
          <a:endParaRPr lang="en-US" sz="1700" kern="1200" dirty="0"/>
        </a:p>
      </dsp:txBody>
      <dsp:txXfrm>
        <a:off x="85444" y="87446"/>
        <a:ext cx="8592114" cy="1579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3AEDC-9FF4-470F-B99A-F45457F1BC29}">
      <dsp:nvSpPr>
        <dsp:cNvPr id="0" name=""/>
        <dsp:cNvSpPr/>
      </dsp:nvSpPr>
      <dsp:spPr>
        <a:xfrm>
          <a:off x="0" y="0"/>
          <a:ext cx="6096000" cy="163292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r-FR" sz="1700" kern="1200" dirty="0" smtClean="0"/>
            <a:t>Alors qu'à l'origine on ne trouvait ces produits qu'en pharmacie, la croissance de ce marché et sa </a:t>
          </a:r>
          <a:r>
            <a:rPr lang="fr-FR" sz="1700" kern="1200" dirty="0" err="1" smtClean="0"/>
            <a:t>diversiﬁcation</a:t>
          </a:r>
          <a:r>
            <a:rPr lang="fr-FR" sz="1700" kern="1200" dirty="0" smtClean="0"/>
            <a:t> ont conduit à la multiplication des réseaux de distribution</a:t>
          </a:r>
          <a:endParaRPr lang="en-US" sz="1700" kern="1200" dirty="0"/>
        </a:p>
      </dsp:txBody>
      <dsp:txXfrm>
        <a:off x="47827" y="47827"/>
        <a:ext cx="6000346" cy="15372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91BDB-DE4E-4772-A232-B96E114CD6EB}">
      <dsp:nvSpPr>
        <dsp:cNvPr id="0" name=""/>
        <dsp:cNvSpPr/>
      </dsp:nvSpPr>
      <dsp:spPr>
        <a:xfrm>
          <a:off x="0" y="113861"/>
          <a:ext cx="8915399" cy="8985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fr-FR" sz="1600" kern="1200" dirty="0" smtClean="0"/>
            <a:t>Le choix d'un </a:t>
          </a:r>
          <a:r>
            <a:rPr lang="fr-FR" sz="1600" kern="1200" dirty="0" err="1" smtClean="0"/>
            <a:t>framework</a:t>
          </a:r>
          <a:r>
            <a:rPr lang="fr-FR" sz="1600" kern="1200" dirty="0" smtClean="0"/>
            <a:t> est personnel, il dépend de nos préférences, mais aussi de notre cahier des charges. </a:t>
          </a:r>
          <a:r>
            <a:rPr lang="fr-FR" sz="1600" kern="1200" dirty="0" err="1" smtClean="0"/>
            <a:t>Symfony</a:t>
          </a:r>
          <a:r>
            <a:rPr lang="fr-FR" sz="1600" kern="1200" dirty="0" smtClean="0"/>
            <a:t> peut donc faciliter améliorer grandement la productivité pour un gros projet mais peut aussi s'avérer trop lourd pour un petit site.</a:t>
          </a:r>
          <a:endParaRPr lang="en-US" sz="1600" kern="1200" dirty="0"/>
        </a:p>
      </dsp:txBody>
      <dsp:txXfrm>
        <a:off x="43864" y="157725"/>
        <a:ext cx="8827671" cy="8108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4B086-1248-4463-82F4-EA573FC07C4D}" type="datetimeFigureOut">
              <a:rPr lang="en-US" smtClean="0"/>
              <a:t>8/5/2021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33DA38-CCC5-4581-9F6D-D28C45249C70}" type="slidenum">
              <a:rPr lang="en-US" smtClean="0"/>
              <a:t>‹#›</a:t>
            </a:fld>
            <a:endParaRPr lang="en-US"/>
          </a:p>
        </p:txBody>
      </p:sp>
    </p:spTree>
    <p:extLst>
      <p:ext uri="{BB962C8B-B14F-4D97-AF65-F5344CB8AC3E}">
        <p14:creationId xmlns:p14="http://schemas.microsoft.com/office/powerpoint/2010/main" val="73836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ltLang="fr-FR" dirty="0" smtClean="0">
                <a:latin typeface="Arial" panose="020B0604020202020204" pitchFamily="34" charset="0"/>
              </a:rPr>
              <a:t>Bonjour</a:t>
            </a:r>
            <a:r>
              <a:rPr lang="fr-FR" altLang="fr-FR" baseline="0" dirty="0" smtClean="0">
                <a:latin typeface="Arial" panose="020B0604020202020204" pitchFamily="34" charset="0"/>
              </a:rPr>
              <a:t> mesdames &amp; messieurs, les membres de jury et toutes les personnes présentes ici</a:t>
            </a:r>
            <a:endParaRPr lang="fr-FR" altLang="fr-FR" dirty="0" smtClean="0">
              <a:latin typeface="Arial" panose="020B0604020202020204" pitchFamily="34" charset="0"/>
            </a:endParaRPr>
          </a:p>
          <a:p>
            <a:r>
              <a:rPr lang="fr-FR" dirty="0" smtClean="0"/>
              <a:t>Je m’appelle</a:t>
            </a:r>
            <a:r>
              <a:rPr lang="fr-FR" baseline="0" dirty="0" smtClean="0"/>
              <a:t> Younes Darrassi, étudiant en 3éme année licence fondamentale  SMI à la faculté des sciences de Fes</a:t>
            </a:r>
          </a:p>
          <a:p>
            <a:r>
              <a:rPr lang="fr-FR" baseline="0" dirty="0" smtClean="0"/>
              <a:t>Avant d’entamer ma présentation, permettez moi d’abord d’adresser mes profonds remerciements aux membres de jury d’avoir accepter d’évaluer mon travail, à notre chef de filière Mr. Adnane </a:t>
            </a:r>
            <a:r>
              <a:rPr lang="fr-FR" baseline="0" dirty="0" err="1" smtClean="0"/>
              <a:t>Mehraz</a:t>
            </a:r>
            <a:r>
              <a:rPr lang="fr-FR" baseline="0" dirty="0" smtClean="0"/>
              <a:t> pour sa veille sur le bon déroulement de notre formation, à mon encadrant interne Mr. </a:t>
            </a:r>
            <a:r>
              <a:rPr lang="fr-FR" baseline="0" dirty="0" err="1" smtClean="0"/>
              <a:t>Abdelouahed</a:t>
            </a:r>
            <a:r>
              <a:rPr lang="fr-FR" baseline="0" dirty="0" smtClean="0"/>
              <a:t> </a:t>
            </a:r>
            <a:r>
              <a:rPr lang="fr-FR" baseline="0" dirty="0" err="1" smtClean="0"/>
              <a:t>Sabri</a:t>
            </a:r>
            <a:r>
              <a:rPr lang="fr-FR" baseline="0" dirty="0" smtClean="0"/>
              <a:t> pour leur disponibilité tout au curant de mon PFE,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smtClean="0"/>
              <a:t>J’ai l’immense plaisir &amp; l’honneur de vous présenter aujourd’hui mon projet de fin d’</a:t>
            </a:r>
            <a:r>
              <a:rPr lang="fr-FR" baseline="0" dirty="0" err="1" smtClean="0"/>
              <a:t>etude</a:t>
            </a:r>
            <a:r>
              <a:rPr lang="fr-FR" baseline="0" dirty="0" smtClean="0"/>
              <a:t> ce projet a pour objectif « Etude, Conception et réalisation d’une application web de gestion des Medicament ,Fournisseur»</a:t>
            </a:r>
            <a:endParaRPr lang="fr-FR" dirty="0"/>
          </a:p>
        </p:txBody>
      </p:sp>
      <p:sp>
        <p:nvSpPr>
          <p:cNvPr id="4" name="Slide Number Placeholder 3"/>
          <p:cNvSpPr>
            <a:spLocks noGrp="1"/>
          </p:cNvSpPr>
          <p:nvPr>
            <p:ph type="sldNum" sz="quarter" idx="10"/>
          </p:nvPr>
        </p:nvSpPr>
        <p:spPr/>
        <p:txBody>
          <a:bodyPr/>
          <a:lstStyle/>
          <a:p>
            <a:fld id="{3933DA38-CCC5-4581-9F6D-D28C45249C70}" type="slidenum">
              <a:rPr lang="en-US" smtClean="0"/>
              <a:t>1</a:t>
            </a:fld>
            <a:endParaRPr lang="en-US"/>
          </a:p>
        </p:txBody>
      </p:sp>
    </p:spTree>
    <p:extLst>
      <p:ext uri="{BB962C8B-B14F-4D97-AF65-F5344CB8AC3E}">
        <p14:creationId xmlns:p14="http://schemas.microsoft.com/office/powerpoint/2010/main" val="2419124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Il est important de Construire un </a:t>
            </a:r>
            <a:r>
              <a:rPr lang="fr-FR" dirty="0" err="1" smtClean="0"/>
              <a:t>Diagramm</a:t>
            </a:r>
            <a:r>
              <a:rPr lang="fr-FR" dirty="0" smtClean="0"/>
              <a:t> de cas</a:t>
            </a:r>
            <a:r>
              <a:rPr lang="fr-FR" baseline="0" dirty="0" smtClean="0"/>
              <a:t> Correct pour facilite Le </a:t>
            </a:r>
            <a:r>
              <a:rPr lang="fr-FR" baseline="0" dirty="0" err="1" smtClean="0"/>
              <a:t>Devellopement</a:t>
            </a:r>
            <a:r>
              <a:rPr lang="fr-FR" baseline="0" dirty="0" smtClean="0"/>
              <a:t> De l’application Web et Pour l'amélioration de la productivité </a:t>
            </a:r>
            <a:endParaRPr lang="en-US" dirty="0"/>
          </a:p>
        </p:txBody>
      </p:sp>
      <p:sp>
        <p:nvSpPr>
          <p:cNvPr id="4" name="Slide Number Placeholder 3"/>
          <p:cNvSpPr>
            <a:spLocks noGrp="1"/>
          </p:cNvSpPr>
          <p:nvPr>
            <p:ph type="sldNum" sz="quarter" idx="10"/>
          </p:nvPr>
        </p:nvSpPr>
        <p:spPr/>
        <p:txBody>
          <a:bodyPr/>
          <a:lstStyle/>
          <a:p>
            <a:fld id="{3933DA38-CCC5-4581-9F6D-D28C45249C70}" type="slidenum">
              <a:rPr lang="en-US" smtClean="0"/>
              <a:t>6</a:t>
            </a:fld>
            <a:endParaRPr lang="en-US"/>
          </a:p>
        </p:txBody>
      </p:sp>
    </p:spTree>
    <p:extLst>
      <p:ext uri="{BB962C8B-B14F-4D97-AF65-F5344CB8AC3E}">
        <p14:creationId xmlns:p14="http://schemas.microsoft.com/office/powerpoint/2010/main" val="3247257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Le </a:t>
            </a:r>
            <a:r>
              <a:rPr lang="fr-FR" dirty="0" err="1" smtClean="0"/>
              <a:t>diagramm</a:t>
            </a:r>
            <a:r>
              <a:rPr lang="fr-FR" dirty="0" smtClean="0"/>
              <a:t> de Class </a:t>
            </a:r>
            <a:r>
              <a:rPr lang="fr-FR" dirty="0" err="1" smtClean="0"/>
              <a:t>Represente</a:t>
            </a:r>
            <a:r>
              <a:rPr lang="fr-FR" dirty="0" smtClean="0"/>
              <a:t> le</a:t>
            </a:r>
            <a:r>
              <a:rPr lang="fr-FR" baseline="0" dirty="0" smtClean="0"/>
              <a:t> </a:t>
            </a:r>
            <a:r>
              <a:rPr lang="fr-FR" baseline="0" dirty="0" err="1" smtClean="0"/>
              <a:t>Role</a:t>
            </a:r>
            <a:r>
              <a:rPr lang="fr-FR" baseline="0" dirty="0" smtClean="0"/>
              <a:t> Des </a:t>
            </a:r>
            <a:r>
              <a:rPr lang="fr-FR" baseline="0" dirty="0" err="1" smtClean="0"/>
              <a:t>Entity</a:t>
            </a:r>
            <a:r>
              <a:rPr lang="fr-FR" baseline="0" dirty="0" smtClean="0"/>
              <a:t> et leur interactions avec le Contenu d’application web</a:t>
            </a:r>
            <a:endParaRPr lang="en-US" dirty="0"/>
          </a:p>
        </p:txBody>
      </p:sp>
      <p:sp>
        <p:nvSpPr>
          <p:cNvPr id="4" name="Slide Number Placeholder 3"/>
          <p:cNvSpPr>
            <a:spLocks noGrp="1"/>
          </p:cNvSpPr>
          <p:nvPr>
            <p:ph type="sldNum" sz="quarter" idx="10"/>
          </p:nvPr>
        </p:nvSpPr>
        <p:spPr/>
        <p:txBody>
          <a:bodyPr/>
          <a:lstStyle/>
          <a:p>
            <a:fld id="{3933DA38-CCC5-4581-9F6D-D28C45249C70}" type="slidenum">
              <a:rPr lang="en-US" smtClean="0"/>
              <a:t>7</a:t>
            </a:fld>
            <a:endParaRPr lang="en-US"/>
          </a:p>
        </p:txBody>
      </p:sp>
    </p:spTree>
    <p:extLst>
      <p:ext uri="{BB962C8B-B14F-4D97-AF65-F5344CB8AC3E}">
        <p14:creationId xmlns:p14="http://schemas.microsoft.com/office/powerpoint/2010/main" val="3692275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smtClean="0"/>
              <a:t>Appartire</a:t>
            </a:r>
            <a:r>
              <a:rPr lang="fr-FR" dirty="0" smtClean="0"/>
              <a:t> d’une HTTP RESPONSE on obtenir</a:t>
            </a:r>
            <a:r>
              <a:rPr lang="fr-FR" baseline="0" dirty="0" smtClean="0"/>
              <a:t> une page HTML </a:t>
            </a:r>
            <a:endParaRPr lang="en-US" dirty="0"/>
          </a:p>
        </p:txBody>
      </p:sp>
      <p:sp>
        <p:nvSpPr>
          <p:cNvPr id="4" name="Slide Number Placeholder 3"/>
          <p:cNvSpPr>
            <a:spLocks noGrp="1"/>
          </p:cNvSpPr>
          <p:nvPr>
            <p:ph type="sldNum" sz="quarter" idx="10"/>
          </p:nvPr>
        </p:nvSpPr>
        <p:spPr/>
        <p:txBody>
          <a:bodyPr/>
          <a:lstStyle/>
          <a:p>
            <a:fld id="{3933DA38-CCC5-4581-9F6D-D28C45249C70}" type="slidenum">
              <a:rPr lang="en-US" smtClean="0"/>
              <a:t>8</a:t>
            </a:fld>
            <a:endParaRPr lang="en-US"/>
          </a:p>
        </p:txBody>
      </p:sp>
    </p:spTree>
    <p:extLst>
      <p:ext uri="{BB962C8B-B14F-4D97-AF65-F5344CB8AC3E}">
        <p14:creationId xmlns:p14="http://schemas.microsoft.com/office/powerpoint/2010/main" val="127782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La page d’</a:t>
            </a:r>
            <a:r>
              <a:rPr lang="fr-FR" dirty="0" err="1" smtClean="0"/>
              <a:t>acceuil</a:t>
            </a:r>
            <a:r>
              <a:rPr lang="fr-FR" dirty="0" smtClean="0"/>
              <a:t> Principale qui Contient Tout les fonctionnalité Nécessaires pour la gestion Des Médicaments Fournisseurs.</a:t>
            </a:r>
            <a:endParaRPr lang="en-US" dirty="0"/>
          </a:p>
        </p:txBody>
      </p:sp>
      <p:sp>
        <p:nvSpPr>
          <p:cNvPr id="4" name="Slide Number Placeholder 3"/>
          <p:cNvSpPr>
            <a:spLocks noGrp="1"/>
          </p:cNvSpPr>
          <p:nvPr>
            <p:ph type="sldNum" sz="quarter" idx="10"/>
          </p:nvPr>
        </p:nvSpPr>
        <p:spPr/>
        <p:txBody>
          <a:bodyPr/>
          <a:lstStyle/>
          <a:p>
            <a:fld id="{3933DA38-CCC5-4581-9F6D-D28C45249C70}" type="slidenum">
              <a:rPr lang="en-US" smtClean="0"/>
              <a:t>9</a:t>
            </a:fld>
            <a:endParaRPr lang="en-US"/>
          </a:p>
        </p:txBody>
      </p:sp>
    </p:spTree>
    <p:extLst>
      <p:ext uri="{BB962C8B-B14F-4D97-AF65-F5344CB8AC3E}">
        <p14:creationId xmlns:p14="http://schemas.microsoft.com/office/powerpoint/2010/main" val="1343712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2248192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338439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5962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70123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EC68734-0D0D-4795-A68E-E3158E294124}" type="datetimeFigureOut">
              <a:rPr lang="en-US" smtClean="0"/>
              <a:t>8/5/2021</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378235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EC68734-0D0D-4795-A68E-E3158E294124}" type="datetimeFigureOut">
              <a:rPr lang="en-US" smtClean="0"/>
              <a:t>8/5/2021</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3140078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68734-0D0D-4795-A68E-E3158E294124}" type="datetimeFigureOut">
              <a:rPr lang="en-US" smtClean="0"/>
              <a:t>8/5/2021</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28668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978869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117501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174713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99BC611-50B7-4D58-9A12-33050669650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444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1985047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9BC611-50B7-4D58-9A12-33050669650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83219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6EC68734-0D0D-4795-A68E-E3158E29412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115142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351681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C68734-0D0D-4795-A68E-E3158E29412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99BC611-50B7-4D58-9A12-330506696506}" type="slidenum">
              <a:rPr lang="en-US" smtClean="0"/>
              <a:t>‹#›</a:t>
            </a:fld>
            <a:endParaRPr lang="en-US"/>
          </a:p>
        </p:txBody>
      </p:sp>
    </p:spTree>
    <p:extLst>
      <p:ext uri="{BB962C8B-B14F-4D97-AF65-F5344CB8AC3E}">
        <p14:creationId xmlns:p14="http://schemas.microsoft.com/office/powerpoint/2010/main" val="2839710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EC68734-0D0D-4795-A68E-E3158E294124}" type="datetimeFigureOut">
              <a:rPr lang="en-US" smtClean="0"/>
              <a:t>8/5/2021</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99BC611-50B7-4D58-9A12-330506696506}" type="slidenum">
              <a:rPr lang="en-US" smtClean="0"/>
              <a:t>‹#›</a:t>
            </a:fld>
            <a:endParaRPr lang="en-US"/>
          </a:p>
        </p:txBody>
      </p:sp>
    </p:spTree>
    <p:extLst>
      <p:ext uri="{BB962C8B-B14F-4D97-AF65-F5344CB8AC3E}">
        <p14:creationId xmlns:p14="http://schemas.microsoft.com/office/powerpoint/2010/main" val="266847618"/>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 id="2147483885" r:id="rId15"/>
    <p:sldLayoutId id="2147483886"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w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8.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3771" y="1824723"/>
            <a:ext cx="7633242" cy="1568193"/>
          </a:xfrm>
        </p:spPr>
        <p:txBody>
          <a:bodyPr>
            <a:normAutofit fontScale="90000"/>
          </a:bodyPr>
          <a:lstStyle/>
          <a:p>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r>
              <a:rPr lang="fr-FR" sz="2200" dirty="0">
                <a:solidFill>
                  <a:schemeClr val="accent1">
                    <a:lumMod val="75000"/>
                  </a:schemeClr>
                </a:solidFill>
                <a:effectLst>
                  <a:outerShdw blurRad="38100" dist="38100" dir="2700000" algn="tl">
                    <a:srgbClr val="000000">
                      <a:alpha val="43137"/>
                    </a:srgbClr>
                  </a:outerShdw>
                </a:effectLst>
              </a:rPr>
              <a:t> </a:t>
            </a:r>
            <a:r>
              <a:rPr lang="fr-FR" sz="2200" b="1" dirty="0">
                <a:solidFill>
                  <a:schemeClr val="accent1">
                    <a:lumMod val="75000"/>
                  </a:schemeClr>
                </a:solidFill>
                <a:effectLst>
                  <a:outerShdw blurRad="38100" dist="38100" dir="2700000" algn="tl">
                    <a:srgbClr val="000000">
                      <a:alpha val="43137"/>
                    </a:srgbClr>
                  </a:outerShdw>
                </a:effectLst>
              </a:rPr>
              <a:t>Etude, conception et réalisation d’une application web de gestion des </a:t>
            </a:r>
            <a:r>
              <a:rPr lang="fr-FR" sz="2200" b="1" dirty="0" err="1" smtClean="0">
                <a:solidFill>
                  <a:schemeClr val="accent1">
                    <a:lumMod val="75000"/>
                  </a:schemeClr>
                </a:solidFill>
                <a:effectLst>
                  <a:outerShdw blurRad="38100" dist="38100" dir="2700000" algn="tl">
                    <a:srgbClr val="000000">
                      <a:alpha val="43137"/>
                    </a:srgbClr>
                  </a:outerShdw>
                </a:effectLst>
              </a:rPr>
              <a:t>Medicaments</a:t>
            </a:r>
            <a:r>
              <a:rPr lang="fr-FR" sz="2200" b="1" dirty="0" smtClean="0">
                <a:solidFill>
                  <a:schemeClr val="accent1">
                    <a:lumMod val="75000"/>
                  </a:schemeClr>
                </a:solidFill>
                <a:effectLst>
                  <a:outerShdw blurRad="38100" dist="38100" dir="2700000" algn="tl">
                    <a:srgbClr val="000000">
                      <a:alpha val="43137"/>
                    </a:srgbClr>
                  </a:outerShdw>
                </a:effectLst>
              </a:rPr>
              <a:t> , Fournisseurs , Commandes Dans une ¨PARAPHARMACIE¨</a:t>
            </a:r>
            <a:r>
              <a:rPr lang="fr-FR" sz="2200" b="1" dirty="0">
                <a:solidFill>
                  <a:schemeClr val="accent1">
                    <a:lumMod val="75000"/>
                  </a:schemeClr>
                </a:solidFill>
                <a:effectLst>
                  <a:outerShdw blurRad="38100" dist="38100" dir="2700000" algn="tl">
                    <a:srgbClr val="000000">
                      <a:alpha val="43137"/>
                    </a:srgbClr>
                  </a:outerShdw>
                </a:effectLst>
              </a:rPr>
              <a:t/>
            </a:r>
            <a:br>
              <a:rPr lang="fr-FR" sz="2200" b="1" dirty="0">
                <a:solidFill>
                  <a:schemeClr val="accent1">
                    <a:lumMod val="75000"/>
                  </a:schemeClr>
                </a:solidFill>
                <a:effectLst>
                  <a:outerShdw blurRad="38100" dist="38100" dir="2700000" algn="tl">
                    <a:srgbClr val="000000">
                      <a:alpha val="43137"/>
                    </a:srgbClr>
                  </a:outerShdw>
                </a:effectLst>
              </a:rPr>
            </a:br>
            <a:endParaRPr lang="en-US" sz="2200" dirty="0"/>
          </a:p>
        </p:txBody>
      </p:sp>
      <p:grpSp>
        <p:nvGrpSpPr>
          <p:cNvPr id="4" name="Groupe 2"/>
          <p:cNvGrpSpPr/>
          <p:nvPr/>
        </p:nvGrpSpPr>
        <p:grpSpPr>
          <a:xfrm>
            <a:off x="1971642" y="0"/>
            <a:ext cx="8429625" cy="1761796"/>
            <a:chOff x="107504" y="-15190"/>
            <a:chExt cx="8856984" cy="1339215"/>
          </a:xfrm>
        </p:grpSpPr>
        <p:sp>
          <p:nvSpPr>
            <p:cNvPr id="5" name="ZoneTexte 9"/>
            <p:cNvSpPr txBox="1"/>
            <p:nvPr/>
          </p:nvSpPr>
          <p:spPr>
            <a:xfrm>
              <a:off x="4224367" y="1032697"/>
              <a:ext cx="1032716" cy="2339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fr-FR" sz="1400" u="sng" dirty="0" smtClean="0"/>
                <a:t>Intitulé </a:t>
              </a:r>
              <a:endParaRPr lang="fr-FR" sz="1400" b="1" u="sng" dirty="0"/>
            </a:p>
          </p:txBody>
        </p:sp>
        <p:sp>
          <p:nvSpPr>
            <p:cNvPr id="6" name="Rectangle 5"/>
            <p:cNvSpPr/>
            <p:nvPr/>
          </p:nvSpPr>
          <p:spPr>
            <a:xfrm>
              <a:off x="1710465" y="-15190"/>
              <a:ext cx="5760640" cy="772048"/>
            </a:xfrm>
            <a:prstGeom prst="rect">
              <a:avLst/>
            </a:prstGeom>
          </p:spPr>
          <p:txBody>
            <a:bodyPr wrap="square">
              <a:spAutoFit/>
            </a:bodyPr>
            <a:lstStyle/>
            <a:p>
              <a:pPr algn="ctr"/>
              <a:r>
                <a:rPr lang="fr-FR" sz="2000" b="1" dirty="0"/>
                <a:t>Université Sidi Mohammed Ben Abdellah - Fès Faculté des Sciences </a:t>
              </a:r>
              <a:r>
                <a:rPr lang="fr-FR" sz="2000" b="1" dirty="0" err="1"/>
                <a:t>Dhar</a:t>
              </a:r>
              <a:r>
                <a:rPr lang="fr-FR" sz="2000" b="1" dirty="0"/>
                <a:t> El </a:t>
              </a:r>
              <a:r>
                <a:rPr lang="fr-FR" sz="2000" b="1" dirty="0" err="1" smtClean="0"/>
                <a:t>Mahraz</a:t>
              </a:r>
              <a:endParaRPr lang="fr-FR" sz="2000" b="1" dirty="0" smtClean="0"/>
            </a:p>
            <a:p>
              <a:pPr algn="ctr"/>
              <a:r>
                <a:rPr lang="fr-FR" sz="2000" b="1" dirty="0" smtClean="0"/>
                <a:t>Département Informatique</a:t>
              </a:r>
              <a:endParaRPr lang="fr-FR" sz="2000" b="1" dirty="0"/>
            </a:p>
          </p:txBody>
        </p:sp>
        <p:sp>
          <p:nvSpPr>
            <p:cNvPr id="7" name="ZoneTexte 11"/>
            <p:cNvSpPr txBox="1"/>
            <p:nvPr/>
          </p:nvSpPr>
          <p:spPr>
            <a:xfrm>
              <a:off x="1619672" y="692696"/>
              <a:ext cx="6047511" cy="280745"/>
            </a:xfrm>
            <a:prstGeom prst="rect">
              <a:avLst/>
            </a:prstGeom>
            <a:solidFill>
              <a:schemeClr val="accent3">
                <a:lumMod val="40000"/>
                <a:lumOff val="60000"/>
              </a:schemeClr>
            </a:solidFill>
            <a:ln w="28575">
              <a:solidFill>
                <a:srgbClr val="002060"/>
              </a:solidFill>
            </a:ln>
          </p:spPr>
          <p:txBody>
            <a:bodyPr wrap="square" rtlCol="0">
              <a:spAutoFit/>
            </a:bodyPr>
            <a:lstStyle/>
            <a:p>
              <a:pPr algn="ctr"/>
              <a:r>
                <a:rPr lang="fr-FR" b="1" dirty="0" err="1" smtClean="0"/>
                <a:t>Presentation</a:t>
              </a:r>
              <a:r>
                <a:rPr lang="fr-FR" b="1" dirty="0" smtClean="0"/>
                <a:t> De Projet De Fin D'étude </a:t>
              </a:r>
              <a:endParaRPr lang="fr-FR" b="1" dirty="0"/>
            </a:p>
          </p:txBody>
        </p:sp>
        <p:pic>
          <p:nvPicPr>
            <p:cNvPr id="8" name="Image 12" descr="C:\Users\hassena\Desktop\LOGOS\logo_rectoratArabe_vectorisé copy.png"/>
            <p:cNvPicPr/>
            <p:nvPr/>
          </p:nvPicPr>
          <p:blipFill>
            <a:blip r:embed="rId4" cstate="print"/>
            <a:srcRect/>
            <a:stretch>
              <a:fillRect/>
            </a:stretch>
          </p:blipFill>
          <p:spPr bwMode="auto">
            <a:xfrm>
              <a:off x="107504" y="116632"/>
              <a:ext cx="1152128" cy="1207393"/>
            </a:xfrm>
            <a:prstGeom prst="rect">
              <a:avLst/>
            </a:prstGeom>
            <a:noFill/>
            <a:ln w="9525">
              <a:noFill/>
              <a:miter lim="800000"/>
              <a:headEnd/>
              <a:tailEnd/>
            </a:ln>
          </p:spPr>
        </p:pic>
        <p:graphicFrame>
          <p:nvGraphicFramePr>
            <p:cNvPr id="9" name="Objet 13"/>
            <p:cNvGraphicFramePr>
              <a:graphicFrameLocks noChangeAspect="1"/>
            </p:cNvGraphicFramePr>
            <p:nvPr>
              <p:extLst>
                <p:ext uri="{D42A27DB-BD31-4B8C-83A1-F6EECF244321}">
                  <p14:modId xmlns:p14="http://schemas.microsoft.com/office/powerpoint/2010/main" val="139590328"/>
                </p:ext>
              </p:extLst>
            </p:nvPr>
          </p:nvGraphicFramePr>
          <p:xfrm>
            <a:off x="7921937" y="247382"/>
            <a:ext cx="1042551" cy="949370"/>
          </p:xfrm>
          <a:graphic>
            <a:graphicData uri="http://schemas.openxmlformats.org/presentationml/2006/ole">
              <mc:AlternateContent xmlns:mc="http://schemas.openxmlformats.org/markup-compatibility/2006">
                <mc:Choice xmlns:v="urn:schemas-microsoft-com:vml" Requires="v">
                  <p:oleObj spid="_x0000_s1043" name="Picture" r:id="rId5" imgW="1143000" imgH="1066800" progId="Word.Picture.8">
                    <p:embed/>
                  </p:oleObj>
                </mc:Choice>
                <mc:Fallback>
                  <p:oleObj name="Picture" r:id="rId5" imgW="1143000" imgH="1066800" progId="Word.Picture.8">
                    <p:embed/>
                    <p:pic>
                      <p:nvPicPr>
                        <p:cNvPr id="14" name="Objet 13"/>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7921937" y="247382"/>
                          <a:ext cx="1042551" cy="949370"/>
                        </a:xfrm>
                        <a:prstGeom prst="rect">
                          <a:avLst/>
                        </a:prstGeom>
                        <a:noFill/>
                        <a:ln>
                          <a:noFill/>
                        </a:ln>
                      </p:spPr>
                    </p:pic>
                  </p:oleObj>
                </mc:Fallback>
              </mc:AlternateContent>
            </a:graphicData>
          </a:graphic>
        </p:graphicFrame>
      </p:grpSp>
      <p:sp>
        <p:nvSpPr>
          <p:cNvPr id="13" name="TextBox 12"/>
          <p:cNvSpPr txBox="1"/>
          <p:nvPr/>
        </p:nvSpPr>
        <p:spPr>
          <a:xfrm>
            <a:off x="1748381" y="4189164"/>
            <a:ext cx="2720878" cy="1846659"/>
          </a:xfrm>
          <a:prstGeom prst="rect">
            <a:avLst/>
          </a:prstGeom>
          <a:noFill/>
        </p:spPr>
        <p:txBody>
          <a:bodyPr wrap="square" rtlCol="0">
            <a:spAutoFit/>
          </a:bodyPr>
          <a:lstStyle/>
          <a:p>
            <a:r>
              <a:rPr lang="fr-FR" sz="6000" dirty="0" smtClean="0">
                <a:solidFill>
                  <a:srgbClr val="FF0000"/>
                </a:solidFill>
              </a:rPr>
              <a:t>. </a:t>
            </a:r>
            <a:r>
              <a:rPr lang="fr-FR" dirty="0" smtClean="0"/>
              <a:t>Membres de jury</a:t>
            </a:r>
            <a:r>
              <a:rPr lang="fr-FR" dirty="0" smtClean="0">
                <a:solidFill>
                  <a:srgbClr val="FF0000"/>
                </a:solidFill>
              </a:rPr>
              <a:t>:</a:t>
            </a:r>
          </a:p>
          <a:p>
            <a:endParaRPr lang="fr-FR" dirty="0" smtClean="0">
              <a:solidFill>
                <a:srgbClr val="FF0000"/>
              </a:solidFill>
            </a:endParaRPr>
          </a:p>
          <a:p>
            <a:endParaRPr lang="fr-FR" dirty="0" smtClean="0">
              <a:solidFill>
                <a:srgbClr val="FF0000"/>
              </a:solidFill>
            </a:endParaRPr>
          </a:p>
          <a:p>
            <a:endParaRPr lang="en-US" dirty="0">
              <a:solidFill>
                <a:srgbClr val="FF0000"/>
              </a:solidFill>
            </a:endParaRPr>
          </a:p>
        </p:txBody>
      </p:sp>
      <p:sp>
        <p:nvSpPr>
          <p:cNvPr id="14" name="TextBox 13"/>
          <p:cNvSpPr txBox="1"/>
          <p:nvPr/>
        </p:nvSpPr>
        <p:spPr>
          <a:xfrm>
            <a:off x="8698736" y="4743161"/>
            <a:ext cx="3493264" cy="369332"/>
          </a:xfrm>
          <a:prstGeom prst="rect">
            <a:avLst/>
          </a:prstGeom>
          <a:noFill/>
        </p:spPr>
        <p:txBody>
          <a:bodyPr wrap="none" rtlCol="0">
            <a:spAutoFit/>
          </a:bodyPr>
          <a:lstStyle/>
          <a:p>
            <a:r>
              <a:rPr lang="fr-FR" dirty="0" smtClean="0">
                <a:solidFill>
                  <a:srgbClr val="FF0000"/>
                </a:solidFill>
              </a:rPr>
              <a:t>Présenté Par : </a:t>
            </a:r>
            <a:r>
              <a:rPr lang="fr-FR" dirty="0" smtClean="0"/>
              <a:t>Younes Darrassi</a:t>
            </a:r>
            <a:endParaRPr lang="en-US" dirty="0"/>
          </a:p>
        </p:txBody>
      </p:sp>
      <p:sp>
        <p:nvSpPr>
          <p:cNvPr id="16" name="TextBox 15"/>
          <p:cNvSpPr txBox="1"/>
          <p:nvPr/>
        </p:nvSpPr>
        <p:spPr>
          <a:xfrm>
            <a:off x="10445368" y="6488668"/>
            <a:ext cx="1737976" cy="369332"/>
          </a:xfrm>
          <a:prstGeom prst="rect">
            <a:avLst/>
          </a:prstGeom>
          <a:noFill/>
        </p:spPr>
        <p:txBody>
          <a:bodyPr wrap="none" rtlCol="0">
            <a:spAutoFit/>
          </a:bodyPr>
          <a:lstStyle/>
          <a:p>
            <a:r>
              <a:rPr lang="fr-FR" dirty="0" smtClean="0"/>
              <a:t>AU  2020-2021</a:t>
            </a:r>
            <a:endParaRPr lang="en-US" dirty="0"/>
          </a:p>
        </p:txBody>
      </p:sp>
    </p:spTree>
    <p:extLst>
      <p:ext uri="{BB962C8B-B14F-4D97-AF65-F5344CB8AC3E}">
        <p14:creationId xmlns:p14="http://schemas.microsoft.com/office/powerpoint/2010/main" val="12260090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5066215" cy="798645"/>
          </a:xfrm>
          <a:prstGeom prst="rect">
            <a:avLst/>
          </a:prstGeom>
        </p:spPr>
      </p:pic>
      <p:sp>
        <p:nvSpPr>
          <p:cNvPr id="6" name="Arc 5"/>
          <p:cNvSpPr/>
          <p:nvPr/>
        </p:nvSpPr>
        <p:spPr>
          <a:xfrm>
            <a:off x="493160" y="965772"/>
            <a:ext cx="2137024" cy="5974422"/>
          </a:xfrm>
          <a:prstGeom prst="arc">
            <a:avLst>
              <a:gd name="adj1" fmla="val 16207272"/>
              <a:gd name="adj2" fmla="val 607373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1561672" y="1228201"/>
            <a:ext cx="1670449" cy="908383"/>
          </a:xfrm>
          <a:prstGeom prst="rect">
            <a:avLst/>
          </a:prstGeom>
        </p:spPr>
      </p:pic>
      <p:pic>
        <p:nvPicPr>
          <p:cNvPr id="10" name="Picture 9"/>
          <p:cNvPicPr>
            <a:picLocks noChangeAspect="1"/>
          </p:cNvPicPr>
          <p:nvPr/>
        </p:nvPicPr>
        <p:blipFill>
          <a:blip r:embed="rId3"/>
          <a:stretch>
            <a:fillRect/>
          </a:stretch>
        </p:blipFill>
        <p:spPr>
          <a:xfrm>
            <a:off x="1705934" y="2502885"/>
            <a:ext cx="1670449" cy="908383"/>
          </a:xfrm>
          <a:prstGeom prst="rect">
            <a:avLst/>
          </a:prstGeom>
        </p:spPr>
      </p:pic>
      <p:pic>
        <p:nvPicPr>
          <p:cNvPr id="11" name="Picture 10"/>
          <p:cNvPicPr>
            <a:picLocks noChangeAspect="1"/>
          </p:cNvPicPr>
          <p:nvPr/>
        </p:nvPicPr>
        <p:blipFill>
          <a:blip r:embed="rId3"/>
          <a:stretch>
            <a:fillRect/>
          </a:stretch>
        </p:blipFill>
        <p:spPr>
          <a:xfrm>
            <a:off x="1870303" y="3890897"/>
            <a:ext cx="1670449" cy="908383"/>
          </a:xfrm>
          <a:prstGeom prst="rect">
            <a:avLst/>
          </a:prstGeom>
        </p:spPr>
      </p:pic>
      <p:pic>
        <p:nvPicPr>
          <p:cNvPr id="12" name="Picture 11"/>
          <p:cNvPicPr>
            <a:picLocks noChangeAspect="1"/>
          </p:cNvPicPr>
          <p:nvPr/>
        </p:nvPicPr>
        <p:blipFill>
          <a:blip r:embed="rId3"/>
          <a:stretch>
            <a:fillRect/>
          </a:stretch>
        </p:blipFill>
        <p:spPr>
          <a:xfrm>
            <a:off x="1697882" y="5310420"/>
            <a:ext cx="1670449" cy="908383"/>
          </a:xfrm>
          <a:prstGeom prst="rect">
            <a:avLst/>
          </a:prstGeom>
        </p:spPr>
      </p:pic>
      <p:sp>
        <p:nvSpPr>
          <p:cNvPr id="13" name="TextBox 12"/>
          <p:cNvSpPr txBox="1"/>
          <p:nvPr/>
        </p:nvSpPr>
        <p:spPr>
          <a:xfrm>
            <a:off x="1585010" y="1491135"/>
            <a:ext cx="1428596" cy="369332"/>
          </a:xfrm>
          <a:prstGeom prst="rect">
            <a:avLst/>
          </a:prstGeom>
          <a:noFill/>
        </p:spPr>
        <p:txBody>
          <a:bodyPr wrap="none" rtlCol="0">
            <a:spAutoFit/>
          </a:bodyPr>
          <a:lstStyle/>
          <a:p>
            <a:r>
              <a:rPr lang="fr-FR" b="1" dirty="0" smtClean="0">
                <a:solidFill>
                  <a:schemeClr val="bg1"/>
                </a:solidFill>
              </a:rPr>
              <a:t>Chapitre 0:</a:t>
            </a:r>
            <a:endParaRPr lang="en-US" b="1" dirty="0">
              <a:solidFill>
                <a:schemeClr val="bg1"/>
              </a:solidFill>
            </a:endParaRPr>
          </a:p>
        </p:txBody>
      </p:sp>
      <p:sp>
        <p:nvSpPr>
          <p:cNvPr id="15" name="TextBox 14"/>
          <p:cNvSpPr txBox="1"/>
          <p:nvPr/>
        </p:nvSpPr>
        <p:spPr>
          <a:xfrm>
            <a:off x="1908912" y="2729308"/>
            <a:ext cx="1428596" cy="369332"/>
          </a:xfrm>
          <a:prstGeom prst="rect">
            <a:avLst/>
          </a:prstGeom>
          <a:noFill/>
        </p:spPr>
        <p:txBody>
          <a:bodyPr wrap="none" rtlCol="0">
            <a:spAutoFit/>
          </a:bodyPr>
          <a:lstStyle/>
          <a:p>
            <a:r>
              <a:rPr lang="fr-FR" b="1" dirty="0" smtClean="0">
                <a:solidFill>
                  <a:schemeClr val="bg1"/>
                </a:solidFill>
              </a:rPr>
              <a:t>Chapitre 1:</a:t>
            </a:r>
            <a:endParaRPr lang="en-US" b="1" dirty="0">
              <a:solidFill>
                <a:schemeClr val="bg1"/>
              </a:solidFill>
            </a:endParaRPr>
          </a:p>
        </p:txBody>
      </p:sp>
      <p:sp>
        <p:nvSpPr>
          <p:cNvPr id="16" name="TextBox 15"/>
          <p:cNvSpPr txBox="1"/>
          <p:nvPr/>
        </p:nvSpPr>
        <p:spPr>
          <a:xfrm>
            <a:off x="1939735" y="4160423"/>
            <a:ext cx="1428596" cy="369332"/>
          </a:xfrm>
          <a:prstGeom prst="rect">
            <a:avLst/>
          </a:prstGeom>
          <a:noFill/>
        </p:spPr>
        <p:txBody>
          <a:bodyPr wrap="none" rtlCol="0">
            <a:spAutoFit/>
          </a:bodyPr>
          <a:lstStyle/>
          <a:p>
            <a:r>
              <a:rPr lang="fr-FR" b="1" dirty="0" smtClean="0">
                <a:solidFill>
                  <a:schemeClr val="bg1"/>
                </a:solidFill>
              </a:rPr>
              <a:t>Chapitre 2:</a:t>
            </a:r>
            <a:endParaRPr lang="en-US" b="1" dirty="0">
              <a:solidFill>
                <a:schemeClr val="bg1"/>
              </a:solidFill>
            </a:endParaRPr>
          </a:p>
        </p:txBody>
      </p:sp>
      <p:sp>
        <p:nvSpPr>
          <p:cNvPr id="17" name="TextBox 16"/>
          <p:cNvSpPr txBox="1"/>
          <p:nvPr/>
        </p:nvSpPr>
        <p:spPr>
          <a:xfrm>
            <a:off x="1803525" y="5579945"/>
            <a:ext cx="1428596" cy="369332"/>
          </a:xfrm>
          <a:prstGeom prst="rect">
            <a:avLst/>
          </a:prstGeom>
          <a:noFill/>
        </p:spPr>
        <p:txBody>
          <a:bodyPr wrap="none" rtlCol="0">
            <a:spAutoFit/>
          </a:bodyPr>
          <a:lstStyle/>
          <a:p>
            <a:r>
              <a:rPr lang="fr-FR" b="1" dirty="0" smtClean="0">
                <a:solidFill>
                  <a:schemeClr val="bg1"/>
                </a:solidFill>
              </a:rPr>
              <a:t>Chapitre 3:</a:t>
            </a:r>
            <a:endParaRPr lang="en-US" b="1" dirty="0">
              <a:solidFill>
                <a:schemeClr val="bg1"/>
              </a:solidFill>
            </a:endParaRPr>
          </a:p>
        </p:txBody>
      </p:sp>
      <p:pic>
        <p:nvPicPr>
          <p:cNvPr id="19" name="Picture 18"/>
          <p:cNvPicPr>
            <a:picLocks noChangeAspect="1"/>
          </p:cNvPicPr>
          <p:nvPr/>
        </p:nvPicPr>
        <p:blipFill>
          <a:blip r:embed="rId4"/>
          <a:stretch>
            <a:fillRect/>
          </a:stretch>
        </p:blipFill>
        <p:spPr>
          <a:xfrm>
            <a:off x="6955604" y="2471374"/>
            <a:ext cx="4438273" cy="6767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20" name="Picture 19"/>
          <p:cNvPicPr>
            <a:picLocks noChangeAspect="1"/>
          </p:cNvPicPr>
          <p:nvPr/>
        </p:nvPicPr>
        <p:blipFill>
          <a:blip r:embed="rId4"/>
          <a:stretch>
            <a:fillRect/>
          </a:stretch>
        </p:blipFill>
        <p:spPr>
          <a:xfrm>
            <a:off x="6955604" y="3822065"/>
            <a:ext cx="4438273" cy="6767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21" name="Picture 20"/>
          <p:cNvPicPr>
            <a:picLocks noChangeAspect="1"/>
          </p:cNvPicPr>
          <p:nvPr/>
        </p:nvPicPr>
        <p:blipFill>
          <a:blip r:embed="rId4"/>
          <a:stretch>
            <a:fillRect/>
          </a:stretch>
        </p:blipFill>
        <p:spPr>
          <a:xfrm>
            <a:off x="6935219" y="5163403"/>
            <a:ext cx="4458658" cy="78587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24" name="Line Callout 2 23"/>
          <p:cNvSpPr/>
          <p:nvPr/>
        </p:nvSpPr>
        <p:spPr>
          <a:xfrm>
            <a:off x="6935220" y="1228201"/>
            <a:ext cx="4438272" cy="632266"/>
          </a:xfrm>
          <a:prstGeom prst="borderCallout2">
            <a:avLst>
              <a:gd name="adj1" fmla="val 48000"/>
              <a:gd name="adj2" fmla="val -1851"/>
              <a:gd name="adj3" fmla="val 46375"/>
              <a:gd name="adj4" fmla="val -16667"/>
              <a:gd name="adj5" fmla="val 67001"/>
              <a:gd name="adj6" fmla="val -81853"/>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latin typeface="Times New Roman" panose="02020603050405020304" pitchFamily="18" charset="0"/>
                <a:cs typeface="Times New Roman" panose="02020603050405020304" pitchFamily="18" charset="0"/>
                <a:hlinkClick r:id="rId5" action="ppaction://hlinksldjump"/>
              </a:rPr>
              <a:t>Introduction générale</a:t>
            </a:r>
            <a:endParaRPr lang="fr-FR" sz="1600" dirty="0" smtClean="0">
              <a:solidFill>
                <a:schemeClr val="tx1"/>
              </a:solidFill>
              <a:latin typeface="Times New Roman" panose="02020603050405020304" pitchFamily="18" charset="0"/>
              <a:cs typeface="Times New Roman" panose="02020603050405020304" pitchFamily="18" charset="0"/>
            </a:endParaRPr>
          </a:p>
          <a:p>
            <a:pPr algn="ctr"/>
            <a:endParaRPr lang="en-US" dirty="0">
              <a:solidFill>
                <a:schemeClr val="accent3">
                  <a:lumMod val="60000"/>
                  <a:lumOff val="40000"/>
                </a:schemeClr>
              </a:solidFill>
            </a:endParaRPr>
          </a:p>
        </p:txBody>
      </p:sp>
      <p:sp>
        <p:nvSpPr>
          <p:cNvPr id="25" name="TextBox 24"/>
          <p:cNvSpPr txBox="1"/>
          <p:nvPr/>
        </p:nvSpPr>
        <p:spPr>
          <a:xfrm>
            <a:off x="7023002" y="2619316"/>
            <a:ext cx="4262705" cy="307777"/>
          </a:xfrm>
          <a:prstGeom prst="rect">
            <a:avLst/>
          </a:prstGeom>
          <a:noFill/>
        </p:spPr>
        <p:txBody>
          <a:bodyPr wrap="none" rtlCol="0">
            <a:spAutoFit/>
          </a:bodyPr>
          <a:lstStyle/>
          <a:p>
            <a:r>
              <a:rPr lang="fr-FR" sz="1400" b="1" dirty="0">
                <a:solidFill>
                  <a:schemeClr val="bg1"/>
                </a:solidFill>
                <a:hlinkClick r:id="rId6" action="ppaction://hlinksldjump"/>
              </a:rPr>
              <a:t>Contexte générale du projet et problématique</a:t>
            </a:r>
            <a:endParaRPr lang="en-US" sz="1400" b="1" dirty="0">
              <a:solidFill>
                <a:schemeClr val="bg1"/>
              </a:solidFill>
            </a:endParaRPr>
          </a:p>
        </p:txBody>
      </p:sp>
      <p:sp>
        <p:nvSpPr>
          <p:cNvPr id="26" name="TextBox 25"/>
          <p:cNvSpPr txBox="1"/>
          <p:nvPr/>
        </p:nvSpPr>
        <p:spPr>
          <a:xfrm>
            <a:off x="6935219" y="3985121"/>
            <a:ext cx="4607352" cy="338554"/>
          </a:xfrm>
          <a:prstGeom prst="rect">
            <a:avLst/>
          </a:prstGeom>
          <a:noFill/>
        </p:spPr>
        <p:txBody>
          <a:bodyPr wrap="none" rtlCol="0">
            <a:spAutoFit/>
          </a:bodyPr>
          <a:lstStyle/>
          <a:p>
            <a:r>
              <a:rPr lang="fr-FR" sz="1600" b="1" dirty="0" smtClean="0">
                <a:solidFill>
                  <a:schemeClr val="bg1"/>
                </a:solidFill>
                <a:hlinkClick r:id="rId7" action="ppaction://hlinksldjump"/>
              </a:rPr>
              <a:t>Modélisation </a:t>
            </a:r>
            <a:r>
              <a:rPr lang="fr-FR" sz="1600" b="1" dirty="0">
                <a:solidFill>
                  <a:schemeClr val="bg1"/>
                </a:solidFill>
                <a:hlinkClick r:id="rId7" action="ppaction://hlinksldjump"/>
              </a:rPr>
              <a:t>et conception de l'application</a:t>
            </a:r>
            <a:endParaRPr lang="en-US" sz="1600" b="1" dirty="0">
              <a:solidFill>
                <a:schemeClr val="bg1"/>
              </a:solidFill>
            </a:endParaRPr>
          </a:p>
        </p:txBody>
      </p:sp>
      <p:sp>
        <p:nvSpPr>
          <p:cNvPr id="27" name="TextBox 26"/>
          <p:cNvSpPr txBox="1"/>
          <p:nvPr/>
        </p:nvSpPr>
        <p:spPr>
          <a:xfrm>
            <a:off x="6935219" y="5446361"/>
            <a:ext cx="4594528" cy="307777"/>
          </a:xfrm>
          <a:prstGeom prst="rect">
            <a:avLst/>
          </a:prstGeom>
          <a:noFill/>
        </p:spPr>
        <p:txBody>
          <a:bodyPr wrap="none" rtlCol="0">
            <a:spAutoFit/>
          </a:bodyPr>
          <a:lstStyle/>
          <a:p>
            <a:r>
              <a:rPr lang="fr-FR" sz="1400" b="1" dirty="0">
                <a:solidFill>
                  <a:schemeClr val="bg1"/>
                </a:solidFill>
                <a:hlinkClick r:id="rId8" action="ppaction://hlinksldjump"/>
              </a:rPr>
              <a:t>Solutions utilisées et mise en place de l'application</a:t>
            </a:r>
            <a:endParaRPr lang="en-US" sz="1400" b="1" dirty="0">
              <a:solidFill>
                <a:schemeClr val="bg1"/>
              </a:solidFill>
            </a:endParaRPr>
          </a:p>
        </p:txBody>
      </p:sp>
      <p:cxnSp>
        <p:nvCxnSpPr>
          <p:cNvPr id="29" name="Straight Connector 28"/>
          <p:cNvCxnSpPr/>
          <p:nvPr/>
        </p:nvCxnSpPr>
        <p:spPr>
          <a:xfrm>
            <a:off x="3540752" y="2927093"/>
            <a:ext cx="32804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657600" y="4323675"/>
            <a:ext cx="314931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3540752" y="5675586"/>
            <a:ext cx="3175358" cy="785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1541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down)">
                                      <p:cBhvr>
                                        <p:cTn id="34" dur="500"/>
                                        <p:tgtEl>
                                          <p:spTgt spid="26"/>
                                        </p:tgtEl>
                                      </p:cBhvr>
                                    </p:animEffect>
                                  </p:childTnLst>
                                </p:cTn>
                              </p:par>
                              <p:par>
                                <p:cTn id="35" presetID="22" presetClass="entr" presetSubtype="4"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down)">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circle(in)">
                                      <p:cBhvr>
                                        <p:cTn id="42" dur="2000"/>
                                        <p:tgtEl>
                                          <p:spTgt spid="21"/>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circle(in)">
                                      <p:cBhvr>
                                        <p:cTn id="45" dur="2000"/>
                                        <p:tgtEl>
                                          <p:spTgt spid="27"/>
                                        </p:tgtEl>
                                      </p:cBhvr>
                                    </p:animEffect>
                                  </p:childTnLst>
                                </p:cTn>
                              </p:par>
                              <p:par>
                                <p:cTn id="46" presetID="6" presetClass="entr" presetSubtype="16"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circle(in)">
                                      <p:cBhvr>
                                        <p:cTn id="48"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6061" y="738554"/>
            <a:ext cx="3451586" cy="369332"/>
          </a:xfrm>
          <a:prstGeom prst="rect">
            <a:avLst/>
          </a:prstGeom>
          <a:solidFill>
            <a:schemeClr val="tx1"/>
          </a:solidFill>
          <a:ln>
            <a:noFill/>
          </a:ln>
          <a:effectLst>
            <a:glow rad="228600">
              <a:schemeClr val="accent4">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rtlCol="0">
            <a:spAutoFit/>
          </a:bodyPr>
          <a:lstStyle/>
          <a:p>
            <a:r>
              <a:rPr lang="fr-FR" dirty="0" err="1">
                <a:solidFill>
                  <a:schemeClr val="bg1"/>
                </a:solidFill>
              </a:rPr>
              <a:t>Ch</a:t>
            </a:r>
            <a:r>
              <a:rPr lang="fr-FR" dirty="0" smtClean="0">
                <a:solidFill>
                  <a:schemeClr val="bg1"/>
                </a:solidFill>
              </a:rPr>
              <a:t> 0 : </a:t>
            </a:r>
            <a:r>
              <a:rPr lang="fr-FR" dirty="0">
                <a:solidFill>
                  <a:schemeClr val="bg1"/>
                </a:solidFill>
              </a:rPr>
              <a:t>Introduction</a:t>
            </a:r>
            <a:r>
              <a:rPr lang="fr-FR" dirty="0" smtClean="0">
                <a:solidFill>
                  <a:schemeClr val="bg1"/>
                </a:solidFill>
              </a:rPr>
              <a:t> Générale </a:t>
            </a:r>
            <a:endParaRPr lang="en-US" dirty="0">
              <a:solidFill>
                <a:schemeClr val="bg1"/>
              </a:solidFill>
            </a:endParaRPr>
          </a:p>
        </p:txBody>
      </p:sp>
      <p:sp>
        <p:nvSpPr>
          <p:cNvPr id="22" name="Rectangle 21"/>
          <p:cNvSpPr/>
          <p:nvPr/>
        </p:nvSpPr>
        <p:spPr>
          <a:xfrm>
            <a:off x="3048000" y="2136339"/>
            <a:ext cx="6096000" cy="2862322"/>
          </a:xfrm>
          <a:prstGeom prst="rect">
            <a:avLst/>
          </a:prstGeom>
          <a:solidFill>
            <a:schemeClr val="accent3">
              <a:lumMod val="50000"/>
            </a:schemeClr>
          </a:solidFill>
          <a:effectLst>
            <a:outerShdw blurRad="76200" dir="13500000" sy="23000" kx="1200000" algn="br" rotWithShape="0">
              <a:prstClr val="black">
                <a:alpha val="20000"/>
              </a:prstClr>
            </a:outerShdw>
            <a:softEdge rad="127000"/>
          </a:effectLst>
        </p:spPr>
        <p:style>
          <a:lnRef idx="1">
            <a:schemeClr val="accent4"/>
          </a:lnRef>
          <a:fillRef idx="3">
            <a:schemeClr val="accent4"/>
          </a:fillRef>
          <a:effectRef idx="2">
            <a:schemeClr val="accent4"/>
          </a:effectRef>
          <a:fontRef idx="minor">
            <a:schemeClr val="lt1"/>
          </a:fontRef>
        </p:style>
        <p:txBody>
          <a:bodyPr>
            <a:spAutoFit/>
          </a:bodyPr>
          <a:lstStyle/>
          <a:p>
            <a:r>
              <a:rPr lang="fr-FR" dirty="0" err="1"/>
              <a:t>Symfony</a:t>
            </a:r>
            <a:r>
              <a:rPr lang="fr-FR" dirty="0"/>
              <a:t> est un Framework </a:t>
            </a:r>
            <a:r>
              <a:rPr lang="fr-FR" dirty="0" err="1"/>
              <a:t>trés</a:t>
            </a:r>
            <a:r>
              <a:rPr lang="fr-FR" dirty="0"/>
              <a:t> professionnel pour </a:t>
            </a:r>
            <a:r>
              <a:rPr lang="fr-FR" dirty="0" err="1"/>
              <a:t>practicer</a:t>
            </a:r>
            <a:r>
              <a:rPr lang="fr-FR" dirty="0"/>
              <a:t> et développer une application web</a:t>
            </a:r>
          </a:p>
          <a:p>
            <a:r>
              <a:rPr lang="fr-FR" dirty="0"/>
              <a:t>par simple et </a:t>
            </a:r>
            <a:r>
              <a:rPr lang="fr-FR" dirty="0" err="1"/>
              <a:t>eﬃcient</a:t>
            </a:r>
            <a:r>
              <a:rPr lang="fr-FR" dirty="0"/>
              <a:t> </a:t>
            </a:r>
            <a:r>
              <a:rPr lang="fr-FR" dirty="0" err="1"/>
              <a:t>methodologie</a:t>
            </a:r>
            <a:endParaRPr lang="fr-FR" dirty="0"/>
          </a:p>
          <a:p>
            <a:r>
              <a:rPr lang="fr-FR" dirty="0"/>
              <a:t>le principe de </a:t>
            </a:r>
            <a:r>
              <a:rPr lang="fr-FR" dirty="0" err="1"/>
              <a:t>Symfony</a:t>
            </a:r>
            <a:r>
              <a:rPr lang="fr-FR" dirty="0"/>
              <a:t> est de Fournir stable complétement dynamique web </a:t>
            </a:r>
            <a:r>
              <a:rPr lang="fr-FR" dirty="0" smtClean="0"/>
              <a:t>application</a:t>
            </a:r>
          </a:p>
          <a:p>
            <a:endParaRPr lang="fr-FR" dirty="0" smtClean="0"/>
          </a:p>
          <a:p>
            <a:r>
              <a:rPr lang="fr-FR" dirty="0" smtClean="0"/>
              <a:t>Il a un lien fort avec composer</a:t>
            </a:r>
          </a:p>
          <a:p>
            <a:r>
              <a:rPr lang="fr-FR" dirty="0" smtClean="0"/>
              <a:t>ce </a:t>
            </a:r>
            <a:r>
              <a:rPr lang="fr-FR" dirty="0"/>
              <a:t>dernier offre riche </a:t>
            </a:r>
            <a:r>
              <a:rPr lang="fr-FR" dirty="0" err="1"/>
              <a:t>library</a:t>
            </a:r>
            <a:r>
              <a:rPr lang="fr-FR" dirty="0"/>
              <a:t> pour les </a:t>
            </a:r>
            <a:r>
              <a:rPr lang="fr-FR" dirty="0" err="1"/>
              <a:t>dependence</a:t>
            </a:r>
            <a:r>
              <a:rPr lang="fr-FR" dirty="0"/>
              <a:t> d'injection qui joue un roule </a:t>
            </a:r>
            <a:r>
              <a:rPr lang="fr-FR" dirty="0" err="1"/>
              <a:t>trés</a:t>
            </a:r>
            <a:r>
              <a:rPr lang="fr-FR" dirty="0"/>
              <a:t> important sur le </a:t>
            </a:r>
            <a:r>
              <a:rPr lang="fr-FR" dirty="0" err="1"/>
              <a:t>development</a:t>
            </a:r>
            <a:r>
              <a:rPr lang="fr-FR" dirty="0"/>
              <a:t>.</a:t>
            </a:r>
            <a:endParaRPr lang="en-US" dirty="0"/>
          </a:p>
        </p:txBody>
      </p:sp>
    </p:spTree>
    <p:extLst>
      <p:ext uri="{BB962C8B-B14F-4D97-AF65-F5344CB8AC3E}">
        <p14:creationId xmlns:p14="http://schemas.microsoft.com/office/powerpoint/2010/main" val="33777252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1000" fill="hold"/>
                                        <p:tgtEl>
                                          <p:spTgt spid="22"/>
                                        </p:tgtEl>
                                        <p:attrNameLst>
                                          <p:attrName>ppt_w</p:attrName>
                                        </p:attrNameLst>
                                      </p:cBhvr>
                                      <p:tavLst>
                                        <p:tav tm="0">
                                          <p:val>
                                            <p:fltVal val="0"/>
                                          </p:val>
                                        </p:tav>
                                        <p:tav tm="100000">
                                          <p:val>
                                            <p:strVal val="#ppt_w"/>
                                          </p:val>
                                        </p:tav>
                                      </p:tavLst>
                                    </p:anim>
                                    <p:anim calcmode="lin" valueType="num">
                                      <p:cBhvr>
                                        <p:cTn id="13" dur="1000" fill="hold"/>
                                        <p:tgtEl>
                                          <p:spTgt spid="22"/>
                                        </p:tgtEl>
                                        <p:attrNameLst>
                                          <p:attrName>ppt_h</p:attrName>
                                        </p:attrNameLst>
                                      </p:cBhvr>
                                      <p:tavLst>
                                        <p:tav tm="0">
                                          <p:val>
                                            <p:fltVal val="0"/>
                                          </p:val>
                                        </p:tav>
                                        <p:tav tm="100000">
                                          <p:val>
                                            <p:strVal val="#ppt_h"/>
                                          </p:val>
                                        </p:tav>
                                      </p:tavLst>
                                    </p:anim>
                                    <p:anim calcmode="lin" valueType="num">
                                      <p:cBhvr>
                                        <p:cTn id="14" dur="1000" fill="hold"/>
                                        <p:tgtEl>
                                          <p:spTgt spid="22"/>
                                        </p:tgtEl>
                                        <p:attrNameLst>
                                          <p:attrName>style.rotation</p:attrName>
                                        </p:attrNameLst>
                                      </p:cBhvr>
                                      <p:tavLst>
                                        <p:tav tm="0">
                                          <p:val>
                                            <p:fltVal val="90"/>
                                          </p:val>
                                        </p:tav>
                                        <p:tav tm="100000">
                                          <p:val>
                                            <p:fltVal val="0"/>
                                          </p:val>
                                        </p:tav>
                                      </p:tavLst>
                                    </p:anim>
                                    <p:animEffect transition="in" filter="fade">
                                      <p:cBhvr>
                                        <p:cTn id="15"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59093" y="770765"/>
            <a:ext cx="5955476" cy="369332"/>
          </a:xfrm>
          <a:prstGeom prst="rect">
            <a:avLst/>
          </a:prstGeom>
          <a:solidFill>
            <a:schemeClr val="tx1"/>
          </a:solidFill>
          <a:effectLst>
            <a:glow rad="63500">
              <a:schemeClr val="accent2">
                <a:satMod val="175000"/>
                <a:alpha val="40000"/>
              </a:schemeClr>
            </a:glow>
          </a:effectLst>
        </p:spPr>
        <p:txBody>
          <a:bodyPr wrap="none">
            <a:spAutoFit/>
          </a:bodyPr>
          <a:lstStyle/>
          <a:p>
            <a:r>
              <a:rPr lang="fr-FR" dirty="0">
                <a:solidFill>
                  <a:schemeClr val="bg1"/>
                </a:solidFill>
              </a:rPr>
              <a:t>Ch1:Contexte générale du projet et problématique</a:t>
            </a:r>
            <a:endParaRPr lang="en-US" dirty="0">
              <a:solidFill>
                <a:schemeClr val="bg1"/>
              </a:solidFill>
            </a:endParaRPr>
          </a:p>
        </p:txBody>
      </p:sp>
      <p:sp>
        <p:nvSpPr>
          <p:cNvPr id="8" name="TextBox 7"/>
          <p:cNvSpPr txBox="1"/>
          <p:nvPr/>
        </p:nvSpPr>
        <p:spPr>
          <a:xfrm>
            <a:off x="3645876" y="1254369"/>
            <a:ext cx="2803973" cy="369332"/>
          </a:xfrm>
          <a:prstGeom prst="rect">
            <a:avLst/>
          </a:prstGeom>
          <a:noFill/>
        </p:spPr>
        <p:txBody>
          <a:bodyPr wrap="none" rtlCol="0">
            <a:spAutoFit/>
          </a:bodyPr>
          <a:lstStyle/>
          <a:p>
            <a:r>
              <a:rPr lang="fr-FR" dirty="0" smtClean="0"/>
              <a:t>Le </a:t>
            </a:r>
            <a:r>
              <a:rPr lang="fr-FR" dirty="0" err="1" smtClean="0"/>
              <a:t>Diagramm</a:t>
            </a:r>
            <a:r>
              <a:rPr lang="fr-FR" dirty="0" smtClean="0"/>
              <a:t> De Gantt</a:t>
            </a:r>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37973"/>
            <a:ext cx="12192000" cy="5250611"/>
          </a:xfrm>
          <a:prstGeom prst="rect">
            <a:avLst/>
          </a:prstGeom>
        </p:spPr>
      </p:pic>
      <p:sp>
        <p:nvSpPr>
          <p:cNvPr id="11" name="Cloud Callout 10"/>
          <p:cNvSpPr/>
          <p:nvPr/>
        </p:nvSpPr>
        <p:spPr>
          <a:xfrm>
            <a:off x="7713785" y="0"/>
            <a:ext cx="4302369" cy="1737973"/>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smtClean="0">
              <a:solidFill>
                <a:schemeClr val="tx2">
                  <a:lumMod val="75000"/>
                </a:schemeClr>
              </a:solidFill>
            </a:endParaRPr>
          </a:p>
          <a:p>
            <a:r>
              <a:rPr lang="fr-FR" sz="1200" dirty="0" smtClean="0">
                <a:solidFill>
                  <a:schemeClr val="bg1"/>
                </a:solidFill>
              </a:rPr>
              <a:t>le </a:t>
            </a:r>
            <a:r>
              <a:rPr lang="fr-FR" sz="1200" dirty="0" err="1">
                <a:solidFill>
                  <a:schemeClr val="bg1"/>
                </a:solidFill>
              </a:rPr>
              <a:t>diagramm</a:t>
            </a:r>
            <a:r>
              <a:rPr lang="fr-FR" sz="1200" dirty="0">
                <a:solidFill>
                  <a:schemeClr val="bg1"/>
                </a:solidFill>
              </a:rPr>
              <a:t> de </a:t>
            </a:r>
            <a:r>
              <a:rPr lang="fr-FR" sz="1200" dirty="0" smtClean="0">
                <a:solidFill>
                  <a:schemeClr val="bg1"/>
                </a:solidFill>
              </a:rPr>
              <a:t>GANTT </a:t>
            </a:r>
            <a:r>
              <a:rPr lang="fr-FR" sz="1200" dirty="0">
                <a:solidFill>
                  <a:schemeClr val="bg1"/>
                </a:solidFill>
              </a:rPr>
              <a:t>fournir quatre TACHE principale:</a:t>
            </a:r>
          </a:p>
          <a:p>
            <a:r>
              <a:rPr lang="fr-FR" sz="1200" dirty="0">
                <a:solidFill>
                  <a:schemeClr val="bg1"/>
                </a:solidFill>
              </a:rPr>
              <a:t>-&gt; Expression des besoins</a:t>
            </a:r>
          </a:p>
          <a:p>
            <a:r>
              <a:rPr lang="fr-FR" sz="1200" dirty="0">
                <a:solidFill>
                  <a:schemeClr val="bg1"/>
                </a:solidFill>
              </a:rPr>
              <a:t>-&gt; Développer le site(</a:t>
            </a:r>
            <a:r>
              <a:rPr lang="fr-FR" sz="1200" dirty="0" err="1">
                <a:solidFill>
                  <a:schemeClr val="bg1"/>
                </a:solidFill>
              </a:rPr>
              <a:t>realisation</a:t>
            </a:r>
            <a:r>
              <a:rPr lang="fr-FR" sz="1200" dirty="0" smtClean="0">
                <a:solidFill>
                  <a:schemeClr val="bg1"/>
                </a:solidFill>
              </a:rPr>
              <a:t>)</a:t>
            </a:r>
          </a:p>
          <a:p>
            <a:r>
              <a:rPr lang="fr-FR" sz="1200" dirty="0">
                <a:solidFill>
                  <a:schemeClr val="bg1"/>
                </a:solidFill>
              </a:rPr>
              <a:t>-</a:t>
            </a:r>
            <a:r>
              <a:rPr lang="fr-FR" sz="1200" dirty="0" smtClean="0">
                <a:solidFill>
                  <a:schemeClr val="bg1"/>
                </a:solidFill>
              </a:rPr>
              <a:t>&gt;Produire </a:t>
            </a:r>
            <a:r>
              <a:rPr lang="fr-FR" sz="1200" dirty="0">
                <a:solidFill>
                  <a:schemeClr val="bg1"/>
                </a:solidFill>
              </a:rPr>
              <a:t>le contenu</a:t>
            </a:r>
          </a:p>
          <a:p>
            <a:r>
              <a:rPr lang="fr-FR" sz="1200" dirty="0">
                <a:solidFill>
                  <a:schemeClr val="bg1"/>
                </a:solidFill>
              </a:rPr>
              <a:t>-&gt; Lancer le site</a:t>
            </a:r>
            <a:endParaRPr lang="en-US" sz="1200" dirty="0">
              <a:solidFill>
                <a:schemeClr val="bg1"/>
              </a:solidFill>
            </a:endParaRPr>
          </a:p>
          <a:p>
            <a:pPr algn="ctr"/>
            <a:endParaRPr lang="en-US" sz="1200" dirty="0"/>
          </a:p>
        </p:txBody>
      </p:sp>
    </p:spTree>
    <p:extLst>
      <p:ext uri="{BB962C8B-B14F-4D97-AF65-F5344CB8AC3E}">
        <p14:creationId xmlns:p14="http://schemas.microsoft.com/office/powerpoint/2010/main" val="34657917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1000" fill="hold"/>
                                        <p:tgtEl>
                                          <p:spTgt spid="11"/>
                                        </p:tgtEl>
                                        <p:attrNameLst>
                                          <p:attrName>ppt_w</p:attrName>
                                        </p:attrNameLst>
                                      </p:cBhvr>
                                      <p:tavLst>
                                        <p:tav tm="0">
                                          <p:val>
                                            <p:fltVal val="0"/>
                                          </p:val>
                                        </p:tav>
                                        <p:tav tm="100000">
                                          <p:val>
                                            <p:strVal val="#ppt_w"/>
                                          </p:val>
                                        </p:tav>
                                      </p:tavLst>
                                    </p:anim>
                                    <p:anim calcmode="lin" valueType="num">
                                      <p:cBhvr>
                                        <p:cTn id="23" dur="1000" fill="hold"/>
                                        <p:tgtEl>
                                          <p:spTgt spid="11"/>
                                        </p:tgtEl>
                                        <p:attrNameLst>
                                          <p:attrName>ppt_h</p:attrName>
                                        </p:attrNameLst>
                                      </p:cBhvr>
                                      <p:tavLst>
                                        <p:tav tm="0">
                                          <p:val>
                                            <p:fltVal val="0"/>
                                          </p:val>
                                        </p:tav>
                                        <p:tav tm="100000">
                                          <p:val>
                                            <p:strVal val="#ppt_h"/>
                                          </p:val>
                                        </p:tav>
                                      </p:tavLst>
                                    </p:anim>
                                    <p:anim calcmode="lin" valueType="num">
                                      <p:cBhvr>
                                        <p:cTn id="24" dur="1000" fill="hold"/>
                                        <p:tgtEl>
                                          <p:spTgt spid="11"/>
                                        </p:tgtEl>
                                        <p:attrNameLst>
                                          <p:attrName>style.rotation</p:attrName>
                                        </p:attrNameLst>
                                      </p:cBhvr>
                                      <p:tavLst>
                                        <p:tav tm="0">
                                          <p:val>
                                            <p:fltVal val="90"/>
                                          </p:val>
                                        </p:tav>
                                        <p:tav tm="100000">
                                          <p:val>
                                            <p:fltVal val="0"/>
                                          </p:val>
                                        </p:tav>
                                      </p:tavLst>
                                    </p:anim>
                                    <p:animEffect transition="in" filter="fade">
                                      <p:cBhvr>
                                        <p:cTn id="2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5468057" y="3157704"/>
            <a:ext cx="1255885" cy="542591"/>
          </a:xfrm>
          <a:prstGeom prst="rect">
            <a:avLst/>
          </a:prstGeom>
        </p:spPr>
      </p:pic>
      <p:pic>
        <p:nvPicPr>
          <p:cNvPr id="14" name="Picture 13"/>
          <p:cNvPicPr>
            <a:picLocks noChangeAspect="1"/>
          </p:cNvPicPr>
          <p:nvPr/>
        </p:nvPicPr>
        <p:blipFill>
          <a:blip r:embed="rId3"/>
          <a:stretch>
            <a:fillRect/>
          </a:stretch>
        </p:blipFill>
        <p:spPr>
          <a:xfrm>
            <a:off x="3733595" y="3243056"/>
            <a:ext cx="4724809" cy="371888"/>
          </a:xfrm>
          <a:prstGeom prst="rect">
            <a:avLst/>
          </a:prstGeom>
        </p:spPr>
      </p:pic>
      <p:sp>
        <p:nvSpPr>
          <p:cNvPr id="18" name="TextBox 17"/>
          <p:cNvSpPr txBox="1"/>
          <p:nvPr/>
        </p:nvSpPr>
        <p:spPr>
          <a:xfrm>
            <a:off x="1771445" y="781050"/>
            <a:ext cx="6037230" cy="369332"/>
          </a:xfrm>
          <a:prstGeom prst="rect">
            <a:avLst/>
          </a:prstGeom>
          <a:solidFill>
            <a:schemeClr val="accent4"/>
          </a:solidFill>
        </p:spPr>
        <p:txBody>
          <a:bodyPr wrap="none" rtlCol="0">
            <a:spAutoFit/>
          </a:bodyPr>
          <a:lstStyle/>
          <a:p>
            <a:r>
              <a:rPr lang="fr-FR" dirty="0" smtClean="0"/>
              <a:t>Description De l’application Et Problème à résoudre </a:t>
            </a:r>
            <a:endParaRPr lang="en-US" dirty="0"/>
          </a:p>
        </p:txBody>
      </p:sp>
      <p:graphicFrame>
        <p:nvGraphicFramePr>
          <p:cNvPr id="24" name="Diagram 23"/>
          <p:cNvGraphicFramePr/>
          <p:nvPr/>
        </p:nvGraphicFramePr>
        <p:xfrm>
          <a:off x="2705098" y="1397674"/>
          <a:ext cx="8763002" cy="17543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5" name="Diagram 24"/>
          <p:cNvGraphicFramePr/>
          <p:nvPr>
            <p:extLst>
              <p:ext uri="{D42A27DB-BD31-4B8C-83A1-F6EECF244321}">
                <p14:modId xmlns:p14="http://schemas.microsoft.com/office/powerpoint/2010/main" val="2563077064"/>
              </p:ext>
            </p:extLst>
          </p:nvPr>
        </p:nvGraphicFramePr>
        <p:xfrm>
          <a:off x="3675942" y="3237353"/>
          <a:ext cx="6096000" cy="163292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1" name="Rectangle 20"/>
          <p:cNvSpPr/>
          <p:nvPr/>
        </p:nvSpPr>
        <p:spPr>
          <a:xfrm>
            <a:off x="2781297" y="4955623"/>
            <a:ext cx="8991602" cy="1200329"/>
          </a:xfrm>
          <a:prstGeom prst="rect">
            <a:avLst/>
          </a:prstGeom>
          <a:solidFill>
            <a:schemeClr val="tx1">
              <a:lumMod val="50000"/>
              <a:lumOff val="50000"/>
            </a:schemeClr>
          </a:solidFill>
        </p:spPr>
        <p:txBody>
          <a:bodyPr wrap="square">
            <a:spAutoFit/>
          </a:bodyPr>
          <a:lstStyle/>
          <a:p>
            <a:r>
              <a:rPr lang="fr-FR" dirty="0">
                <a:solidFill>
                  <a:schemeClr val="bg1"/>
                </a:solidFill>
              </a:rPr>
              <a:t>dans le </a:t>
            </a:r>
            <a:r>
              <a:rPr lang="fr-FR" dirty="0" err="1">
                <a:solidFill>
                  <a:schemeClr val="bg1"/>
                </a:solidFill>
              </a:rPr>
              <a:t>development</a:t>
            </a:r>
            <a:r>
              <a:rPr lang="fr-FR" dirty="0">
                <a:solidFill>
                  <a:schemeClr val="bg1"/>
                </a:solidFill>
              </a:rPr>
              <a:t> d'une large application en rencontre des problème de memory </a:t>
            </a:r>
            <a:r>
              <a:rPr lang="fr-FR" dirty="0" err="1">
                <a:solidFill>
                  <a:schemeClr val="bg1"/>
                </a:solidFill>
              </a:rPr>
              <a:t>limit</a:t>
            </a:r>
            <a:r>
              <a:rPr lang="fr-FR" dirty="0">
                <a:solidFill>
                  <a:schemeClr val="bg1"/>
                </a:solidFill>
              </a:rPr>
              <a:t>(1.5 G) de Composer pour </a:t>
            </a:r>
            <a:r>
              <a:rPr lang="fr-FR" dirty="0" err="1">
                <a:solidFill>
                  <a:schemeClr val="bg1"/>
                </a:solidFill>
              </a:rPr>
              <a:t>çela</a:t>
            </a:r>
            <a:r>
              <a:rPr lang="fr-FR" dirty="0">
                <a:solidFill>
                  <a:schemeClr val="bg1"/>
                </a:solidFill>
              </a:rPr>
              <a:t> .</a:t>
            </a:r>
          </a:p>
          <a:p>
            <a:r>
              <a:rPr lang="fr-FR" dirty="0">
                <a:solidFill>
                  <a:schemeClr val="bg1"/>
                </a:solidFill>
              </a:rPr>
              <a:t>il faut exécuter la commande suivant dans le terminal</a:t>
            </a:r>
          </a:p>
          <a:p>
            <a:r>
              <a:rPr lang="fr-FR" dirty="0">
                <a:solidFill>
                  <a:schemeClr val="bg1"/>
                </a:solidFill>
              </a:rPr>
              <a:t>c:\Windows\system32&gt;COMPOSER_MEMORY_LIMIT=-1 composer update</a:t>
            </a:r>
            <a:endParaRPr lang="en-US" dirty="0">
              <a:solidFill>
                <a:schemeClr val="bg1"/>
              </a:solidFill>
            </a:endParaRPr>
          </a:p>
        </p:txBody>
      </p:sp>
    </p:spTree>
    <p:extLst>
      <p:ext uri="{BB962C8B-B14F-4D97-AF65-F5344CB8AC3E}">
        <p14:creationId xmlns:p14="http://schemas.microsoft.com/office/powerpoint/2010/main" val="30350876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down)">
                                      <p:cBhvr>
                                        <p:cTn id="14" dur="580">
                                          <p:stCondLst>
                                            <p:cond delay="0"/>
                                          </p:stCondLst>
                                        </p:cTn>
                                        <p:tgtEl>
                                          <p:spTgt spid="24"/>
                                        </p:tgtEl>
                                      </p:cBhvr>
                                    </p:animEffect>
                                    <p:anim calcmode="lin" valueType="num">
                                      <p:cBhvr>
                                        <p:cTn id="15"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20" dur="26">
                                          <p:stCondLst>
                                            <p:cond delay="650"/>
                                          </p:stCondLst>
                                        </p:cTn>
                                        <p:tgtEl>
                                          <p:spTgt spid="24"/>
                                        </p:tgtEl>
                                      </p:cBhvr>
                                      <p:to x="100000" y="60000"/>
                                    </p:animScale>
                                    <p:animScale>
                                      <p:cBhvr>
                                        <p:cTn id="21" dur="166" decel="50000">
                                          <p:stCondLst>
                                            <p:cond delay="676"/>
                                          </p:stCondLst>
                                        </p:cTn>
                                        <p:tgtEl>
                                          <p:spTgt spid="24"/>
                                        </p:tgtEl>
                                      </p:cBhvr>
                                      <p:to x="100000" y="100000"/>
                                    </p:animScale>
                                    <p:animScale>
                                      <p:cBhvr>
                                        <p:cTn id="22" dur="26">
                                          <p:stCondLst>
                                            <p:cond delay="1312"/>
                                          </p:stCondLst>
                                        </p:cTn>
                                        <p:tgtEl>
                                          <p:spTgt spid="24"/>
                                        </p:tgtEl>
                                      </p:cBhvr>
                                      <p:to x="100000" y="80000"/>
                                    </p:animScale>
                                    <p:animScale>
                                      <p:cBhvr>
                                        <p:cTn id="23" dur="166" decel="50000">
                                          <p:stCondLst>
                                            <p:cond delay="1338"/>
                                          </p:stCondLst>
                                        </p:cTn>
                                        <p:tgtEl>
                                          <p:spTgt spid="24"/>
                                        </p:tgtEl>
                                      </p:cBhvr>
                                      <p:to x="100000" y="100000"/>
                                    </p:animScale>
                                    <p:animScale>
                                      <p:cBhvr>
                                        <p:cTn id="24" dur="26">
                                          <p:stCondLst>
                                            <p:cond delay="1642"/>
                                          </p:stCondLst>
                                        </p:cTn>
                                        <p:tgtEl>
                                          <p:spTgt spid="24"/>
                                        </p:tgtEl>
                                      </p:cBhvr>
                                      <p:to x="100000" y="90000"/>
                                    </p:animScale>
                                    <p:animScale>
                                      <p:cBhvr>
                                        <p:cTn id="25" dur="166" decel="50000">
                                          <p:stCondLst>
                                            <p:cond delay="1668"/>
                                          </p:stCondLst>
                                        </p:cTn>
                                        <p:tgtEl>
                                          <p:spTgt spid="24"/>
                                        </p:tgtEl>
                                      </p:cBhvr>
                                      <p:to x="100000" y="100000"/>
                                    </p:animScale>
                                    <p:animScale>
                                      <p:cBhvr>
                                        <p:cTn id="26" dur="26">
                                          <p:stCondLst>
                                            <p:cond delay="1808"/>
                                          </p:stCondLst>
                                        </p:cTn>
                                        <p:tgtEl>
                                          <p:spTgt spid="24"/>
                                        </p:tgtEl>
                                      </p:cBhvr>
                                      <p:to x="100000" y="95000"/>
                                    </p:animScale>
                                    <p:animScale>
                                      <p:cBhvr>
                                        <p:cTn id="27" dur="166" decel="50000">
                                          <p:stCondLst>
                                            <p:cond delay="1834"/>
                                          </p:stCondLst>
                                        </p:cTn>
                                        <p:tgtEl>
                                          <p:spTgt spid="24"/>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ppt_x"/>
                                          </p:val>
                                        </p:tav>
                                        <p:tav tm="100000">
                                          <p:val>
                                            <p:strVal val="#ppt_x"/>
                                          </p:val>
                                        </p:tav>
                                      </p:tavLst>
                                    </p:anim>
                                    <p:anim calcmode="lin" valueType="num">
                                      <p:cBhvr additive="base">
                                        <p:cTn id="3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randombar(horizontal)">
                                      <p:cBhvr>
                                        <p:cTn id="3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Graphic spid="24" grpId="0">
        <p:bldAsOne/>
      </p:bldGraphic>
      <p:bldGraphic spid="25" grpId="0">
        <p:bldAsOne/>
      </p:bldGraphic>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620297" y="747319"/>
            <a:ext cx="5622052" cy="369332"/>
          </a:xfrm>
          <a:prstGeom prst="rect">
            <a:avLst/>
          </a:prstGeom>
          <a:solidFill>
            <a:schemeClr val="tx1"/>
          </a:solidFill>
          <a:ln>
            <a:solidFill>
              <a:schemeClr val="bg1"/>
            </a:solidFill>
          </a:ln>
          <a:effectLst>
            <a:outerShdw blurRad="50800" dist="38100" dir="13500000" algn="b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fr-FR" dirty="0"/>
              <a:t>Ch2:Modélisation et conception de l'application</a:t>
            </a:r>
            <a:endParaRPr lang="en-US" dirty="0"/>
          </a:p>
        </p:txBody>
      </p:sp>
      <p:sp>
        <p:nvSpPr>
          <p:cNvPr id="18" name="TextBox 17"/>
          <p:cNvSpPr txBox="1"/>
          <p:nvPr/>
        </p:nvSpPr>
        <p:spPr>
          <a:xfrm>
            <a:off x="3751384" y="1207477"/>
            <a:ext cx="3599062" cy="369332"/>
          </a:xfrm>
          <a:prstGeom prst="rect">
            <a:avLst/>
          </a:prstGeom>
          <a:noFill/>
        </p:spPr>
        <p:txBody>
          <a:bodyPr wrap="none" rtlCol="0">
            <a:spAutoFit/>
          </a:bodyPr>
          <a:lstStyle/>
          <a:p>
            <a:r>
              <a:rPr lang="fr-FR" dirty="0" err="1" smtClean="0"/>
              <a:t>Diagramm</a:t>
            </a:r>
            <a:r>
              <a:rPr lang="fr-FR" dirty="0" smtClean="0"/>
              <a:t> De Cas D’utilisation</a:t>
            </a:r>
            <a:endParaRPr lang="en-US" dirty="0"/>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2862" y="1667635"/>
            <a:ext cx="9519138" cy="5263292"/>
          </a:xfrm>
          <a:prstGeom prst="rect">
            <a:avLst/>
          </a:prstGeom>
        </p:spPr>
      </p:pic>
      <p:sp>
        <p:nvSpPr>
          <p:cNvPr id="22" name="Cloud Callout 21"/>
          <p:cNvSpPr/>
          <p:nvPr/>
        </p:nvSpPr>
        <p:spPr>
          <a:xfrm>
            <a:off x="7721399" y="-11723"/>
            <a:ext cx="4470601" cy="1852356"/>
          </a:xfrm>
          <a:prstGeom prst="cloudCallout">
            <a:avLst>
              <a:gd name="adj1" fmla="val -30273"/>
              <a:gd name="adj2" fmla="val 1144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smtClean="0"/>
          </a:p>
          <a:p>
            <a:pPr algn="ctr"/>
            <a:r>
              <a:rPr lang="fr-FR" dirty="0" smtClean="0"/>
              <a:t>représente </a:t>
            </a:r>
            <a:r>
              <a:rPr lang="fr-FR" dirty="0"/>
              <a:t>une unité discrète d'interaction entre un utilisateur et Le système</a:t>
            </a:r>
            <a:endParaRPr lang="en-US" dirty="0"/>
          </a:p>
          <a:p>
            <a:pPr algn="ctr"/>
            <a:endParaRPr lang="en-US" dirty="0"/>
          </a:p>
        </p:txBody>
      </p:sp>
      <p:sp>
        <p:nvSpPr>
          <p:cNvPr id="23" name="Rectangle 22"/>
          <p:cNvSpPr/>
          <p:nvPr/>
        </p:nvSpPr>
        <p:spPr>
          <a:xfrm>
            <a:off x="9194848" y="2873660"/>
            <a:ext cx="2203639" cy="369332"/>
          </a:xfrm>
          <a:prstGeom prst="rect">
            <a:avLst/>
          </a:prstGeom>
        </p:spPr>
        <p:txBody>
          <a:bodyPr wrap="square">
            <a:spAutoFit/>
          </a:bodyPr>
          <a:lstStyle/>
          <a:p>
            <a:endParaRPr lang="fr-FR" dirty="0"/>
          </a:p>
        </p:txBody>
      </p:sp>
      <p:sp>
        <p:nvSpPr>
          <p:cNvPr id="24" name="Cloud Callout 23"/>
          <p:cNvSpPr/>
          <p:nvPr/>
        </p:nvSpPr>
        <p:spPr>
          <a:xfrm>
            <a:off x="9530862" y="2391616"/>
            <a:ext cx="2395164" cy="851375"/>
          </a:xfrm>
          <a:prstGeom prst="cloudCallout">
            <a:avLst>
              <a:gd name="adj1" fmla="val -122639"/>
              <a:gd name="adj2" fmla="val 1106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Acteurs sont USER et ADMIN </a:t>
            </a:r>
          </a:p>
          <a:p>
            <a:pPr algn="ctr"/>
            <a:endParaRPr lang="en-US" dirty="0"/>
          </a:p>
        </p:txBody>
      </p:sp>
    </p:spTree>
    <p:extLst>
      <p:ext uri="{BB962C8B-B14F-4D97-AF65-F5344CB8AC3E}">
        <p14:creationId xmlns:p14="http://schemas.microsoft.com/office/powerpoint/2010/main" val="41401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1000"/>
                                        <p:tgtEl>
                                          <p:spTgt spid="24"/>
                                        </p:tgtEl>
                                      </p:cBhvr>
                                    </p:animEffect>
                                    <p:anim calcmode="lin" valueType="num">
                                      <p:cBhvr>
                                        <p:cTn id="30" dur="1000" fill="hold"/>
                                        <p:tgtEl>
                                          <p:spTgt spid="24"/>
                                        </p:tgtEl>
                                        <p:attrNameLst>
                                          <p:attrName>ppt_x</p:attrName>
                                        </p:attrNameLst>
                                      </p:cBhvr>
                                      <p:tavLst>
                                        <p:tav tm="0">
                                          <p:val>
                                            <p:strVal val="#ppt_x"/>
                                          </p:val>
                                        </p:tav>
                                        <p:tav tm="100000">
                                          <p:val>
                                            <p:strVal val="#ppt_x"/>
                                          </p:val>
                                        </p:tav>
                                      </p:tavLst>
                                    </p:anim>
                                    <p:anim calcmode="lin" valueType="num">
                                      <p:cBhvr>
                                        <p:cTn id="3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22"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5079" y="694449"/>
            <a:ext cx="3221721" cy="454413"/>
          </a:xfrm>
          <a:solidFill>
            <a:schemeClr val="bg1"/>
          </a:solidFill>
          <a:effectLst>
            <a:outerShdw blurRad="50800" dist="38100" dir="2700000" algn="tl" rotWithShape="0">
              <a:prstClr val="black">
                <a:alpha val="40000"/>
              </a:prstClr>
            </a:outerShdw>
          </a:effectLst>
        </p:spPr>
        <p:txBody>
          <a:bodyPr>
            <a:normAutofit fontScale="90000"/>
          </a:bodyPr>
          <a:lstStyle/>
          <a:p>
            <a:r>
              <a:rPr lang="fr-FR" sz="2400" dirty="0" err="1" smtClean="0">
                <a:solidFill>
                  <a:schemeClr val="tx1">
                    <a:lumMod val="95000"/>
                    <a:lumOff val="5000"/>
                  </a:schemeClr>
                </a:solidFill>
              </a:rPr>
              <a:t>Diagramm</a:t>
            </a:r>
            <a:r>
              <a:rPr lang="fr-FR" sz="2400" dirty="0" smtClean="0">
                <a:solidFill>
                  <a:schemeClr val="tx1">
                    <a:lumMod val="95000"/>
                    <a:lumOff val="5000"/>
                  </a:schemeClr>
                </a:solidFill>
              </a:rPr>
              <a:t> De Class</a:t>
            </a:r>
            <a:endParaRPr lang="en-US" sz="2400" dirty="0">
              <a:solidFill>
                <a:schemeClr val="tx1">
                  <a:lumMod val="95000"/>
                  <a:lumOff val="5000"/>
                </a:schemeClr>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416942"/>
            <a:ext cx="10058400" cy="5441058"/>
          </a:xfrm>
          <a:prstGeom prst="rect">
            <a:avLst/>
          </a:prstGeom>
        </p:spPr>
      </p:pic>
      <p:sp>
        <p:nvSpPr>
          <p:cNvPr id="4" name="Cloud Callout 3"/>
          <p:cNvSpPr/>
          <p:nvPr/>
        </p:nvSpPr>
        <p:spPr>
          <a:xfrm>
            <a:off x="5802923" y="140677"/>
            <a:ext cx="5369169" cy="1664677"/>
          </a:xfrm>
          <a:prstGeom prst="cloudCallout">
            <a:avLst>
              <a:gd name="adj1" fmla="val -15593"/>
              <a:gd name="adj2" fmla="val 787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-Gestion Des </a:t>
            </a:r>
            <a:r>
              <a:rPr lang="fr-FR" dirty="0" err="1" smtClean="0"/>
              <a:t>Medicaments</a:t>
            </a:r>
            <a:endParaRPr lang="fr-FR" dirty="0" smtClean="0"/>
          </a:p>
          <a:p>
            <a:pPr algn="ctr"/>
            <a:r>
              <a:rPr lang="fr-FR" dirty="0" smtClean="0"/>
              <a:t>-Gestion Des Clients</a:t>
            </a:r>
          </a:p>
          <a:p>
            <a:pPr algn="ctr"/>
            <a:r>
              <a:rPr lang="fr-FR" dirty="0" smtClean="0"/>
              <a:t>-Gestion Des Fournisseurs</a:t>
            </a:r>
          </a:p>
          <a:p>
            <a:pPr algn="ctr"/>
            <a:r>
              <a:rPr lang="fr-FR" dirty="0" smtClean="0"/>
              <a:t>-Gestion Des Commandes</a:t>
            </a:r>
            <a:endParaRPr lang="en-US" dirty="0"/>
          </a:p>
        </p:txBody>
      </p:sp>
    </p:spTree>
    <p:extLst>
      <p:ext uri="{BB962C8B-B14F-4D97-AF65-F5344CB8AC3E}">
        <p14:creationId xmlns:p14="http://schemas.microsoft.com/office/powerpoint/2010/main" val="389773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8185" y="706171"/>
            <a:ext cx="5730461" cy="641982"/>
          </a:xfrm>
        </p:spPr>
        <p:txBody>
          <a:bodyPr>
            <a:normAutofit/>
          </a:bodyPr>
          <a:lstStyle/>
          <a:p>
            <a:r>
              <a:rPr lang="fr-FR" sz="2000" dirty="0" err="1" smtClean="0">
                <a:solidFill>
                  <a:schemeClr val="tx1"/>
                </a:solidFill>
              </a:rPr>
              <a:t>Diagramm</a:t>
            </a:r>
            <a:r>
              <a:rPr lang="fr-FR" sz="2000" dirty="0" smtClean="0">
                <a:solidFill>
                  <a:schemeClr val="tx1"/>
                </a:solidFill>
              </a:rPr>
              <a:t> De Séquence EN MVC Structure</a:t>
            </a:r>
            <a:endParaRPr lang="en-US" sz="2000"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348153"/>
            <a:ext cx="12192000" cy="5509847"/>
          </a:xfrm>
          <a:prstGeom prst="rect">
            <a:avLst/>
          </a:prstGeom>
        </p:spPr>
      </p:pic>
    </p:spTree>
    <p:extLst>
      <p:ext uri="{BB962C8B-B14F-4D97-AF65-F5344CB8AC3E}">
        <p14:creationId xmlns:p14="http://schemas.microsoft.com/office/powerpoint/2010/main" val="123549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08186" y="788233"/>
            <a:ext cx="5698996" cy="338554"/>
          </a:xfrm>
          <a:prstGeom prst="rect">
            <a:avLst/>
          </a:prstGeom>
          <a:solidFill>
            <a:schemeClr val="tx1"/>
          </a:solidFill>
          <a:ln>
            <a:solidFill>
              <a:schemeClr val="bg1"/>
            </a:solidFill>
          </a:ln>
          <a:effectLst>
            <a:outerShdw blurRad="50800" dist="38100" dir="13500000" algn="b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fr-FR" sz="1600" dirty="0" smtClean="0"/>
              <a:t>Ch3:Solutions Utilisées  </a:t>
            </a:r>
            <a:r>
              <a:rPr lang="fr-FR" sz="1600" dirty="0"/>
              <a:t>et mise en place de l'application</a:t>
            </a:r>
            <a:endParaRPr lang="en-US" sz="1600" dirty="0"/>
          </a:p>
        </p:txBody>
      </p:sp>
      <p:sp>
        <p:nvSpPr>
          <p:cNvPr id="4" name="TextBox 3"/>
          <p:cNvSpPr txBox="1"/>
          <p:nvPr/>
        </p:nvSpPr>
        <p:spPr>
          <a:xfrm>
            <a:off x="3774831" y="1208163"/>
            <a:ext cx="2803973" cy="369332"/>
          </a:xfrm>
          <a:prstGeom prst="rect">
            <a:avLst/>
          </a:prstGeom>
          <a:noFill/>
        </p:spPr>
        <p:txBody>
          <a:bodyPr wrap="none" rtlCol="0">
            <a:spAutoFit/>
          </a:bodyPr>
          <a:lstStyle/>
          <a:p>
            <a:r>
              <a:rPr lang="fr-FR" dirty="0" err="1" smtClean="0"/>
              <a:t>Demo</a:t>
            </a:r>
            <a:r>
              <a:rPr lang="fr-FR" dirty="0" smtClean="0"/>
              <a:t> De l’application </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58871"/>
            <a:ext cx="12192000" cy="5199130"/>
          </a:xfrm>
          <a:prstGeom prst="rect">
            <a:avLst/>
          </a:prstGeom>
        </p:spPr>
      </p:pic>
    </p:spTree>
    <p:extLst>
      <p:ext uri="{BB962C8B-B14F-4D97-AF65-F5344CB8AC3E}">
        <p14:creationId xmlns:p14="http://schemas.microsoft.com/office/powerpoint/2010/main" val="11464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smtClean="0"/>
              <a:t>Conclusion</a:t>
            </a:r>
            <a:endParaRPr lang="en-US" dirty="0"/>
          </a:p>
        </p:txBody>
      </p:sp>
      <p:graphicFrame>
        <p:nvGraphicFramePr>
          <p:cNvPr id="4" name="Diagram 3"/>
          <p:cNvGraphicFramePr/>
          <p:nvPr/>
        </p:nvGraphicFramePr>
        <p:xfrm>
          <a:off x="2589213" y="4777379"/>
          <a:ext cx="8915399" cy="11262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335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80">
                                          <p:stCondLst>
                                            <p:cond delay="0"/>
                                          </p:stCondLst>
                                        </p:cTn>
                                        <p:tgtEl>
                                          <p:spTgt spid="4"/>
                                        </p:tgtEl>
                                      </p:cBhvr>
                                    </p:animEffect>
                                    <p:anim calcmode="lin" valueType="num">
                                      <p:cBhvr>
                                        <p:cTn id="13"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8" dur="26">
                                          <p:stCondLst>
                                            <p:cond delay="650"/>
                                          </p:stCondLst>
                                        </p:cTn>
                                        <p:tgtEl>
                                          <p:spTgt spid="4"/>
                                        </p:tgtEl>
                                      </p:cBhvr>
                                      <p:to x="100000" y="60000"/>
                                    </p:animScale>
                                    <p:animScale>
                                      <p:cBhvr>
                                        <p:cTn id="19" dur="166" decel="50000">
                                          <p:stCondLst>
                                            <p:cond delay="676"/>
                                          </p:stCondLst>
                                        </p:cTn>
                                        <p:tgtEl>
                                          <p:spTgt spid="4"/>
                                        </p:tgtEl>
                                      </p:cBhvr>
                                      <p:to x="100000" y="100000"/>
                                    </p:animScale>
                                    <p:animScale>
                                      <p:cBhvr>
                                        <p:cTn id="20" dur="26">
                                          <p:stCondLst>
                                            <p:cond delay="1312"/>
                                          </p:stCondLst>
                                        </p:cTn>
                                        <p:tgtEl>
                                          <p:spTgt spid="4"/>
                                        </p:tgtEl>
                                      </p:cBhvr>
                                      <p:to x="100000" y="80000"/>
                                    </p:animScale>
                                    <p:animScale>
                                      <p:cBhvr>
                                        <p:cTn id="21" dur="166" decel="50000">
                                          <p:stCondLst>
                                            <p:cond delay="1338"/>
                                          </p:stCondLst>
                                        </p:cTn>
                                        <p:tgtEl>
                                          <p:spTgt spid="4"/>
                                        </p:tgtEl>
                                      </p:cBhvr>
                                      <p:to x="100000" y="100000"/>
                                    </p:animScale>
                                    <p:animScale>
                                      <p:cBhvr>
                                        <p:cTn id="22" dur="26">
                                          <p:stCondLst>
                                            <p:cond delay="1642"/>
                                          </p:stCondLst>
                                        </p:cTn>
                                        <p:tgtEl>
                                          <p:spTgt spid="4"/>
                                        </p:tgtEl>
                                      </p:cBhvr>
                                      <p:to x="100000" y="90000"/>
                                    </p:animScale>
                                    <p:animScale>
                                      <p:cBhvr>
                                        <p:cTn id="23" dur="166" decel="50000">
                                          <p:stCondLst>
                                            <p:cond delay="1668"/>
                                          </p:stCondLst>
                                        </p:cTn>
                                        <p:tgtEl>
                                          <p:spTgt spid="4"/>
                                        </p:tgtEl>
                                      </p:cBhvr>
                                      <p:to x="100000" y="100000"/>
                                    </p:animScale>
                                    <p:animScale>
                                      <p:cBhvr>
                                        <p:cTn id="24" dur="26">
                                          <p:stCondLst>
                                            <p:cond delay="1808"/>
                                          </p:stCondLst>
                                        </p:cTn>
                                        <p:tgtEl>
                                          <p:spTgt spid="4"/>
                                        </p:tgtEl>
                                      </p:cBhvr>
                                      <p:to x="100000" y="95000"/>
                                    </p:animScale>
                                    <p:animScale>
                                      <p:cBhvr>
                                        <p:cTn id="25"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Lst>
  </p:timing>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637</TotalTime>
  <Words>587</Words>
  <Application>Microsoft Office PowerPoint</Application>
  <PresentationFormat>Widescreen</PresentationFormat>
  <Paragraphs>66</Paragraphs>
  <Slides>10</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Arial</vt:lpstr>
      <vt:lpstr>Calibri</vt:lpstr>
      <vt:lpstr>Century Gothic</vt:lpstr>
      <vt:lpstr>Times New Roman</vt:lpstr>
      <vt:lpstr>Wingdings 3</vt:lpstr>
      <vt:lpstr>Wisp</vt:lpstr>
      <vt:lpstr>Picture</vt:lpstr>
      <vt:lpstr>  Etude, conception et réalisation d’une application web de gestion des Medicaments , Fournisseurs , Commandes Dans une ¨PARAPHARMACIE¨ </vt:lpstr>
      <vt:lpstr>PowerPoint Presentation</vt:lpstr>
      <vt:lpstr>PowerPoint Presentation</vt:lpstr>
      <vt:lpstr>PowerPoint Presentation</vt:lpstr>
      <vt:lpstr>PowerPoint Presentation</vt:lpstr>
      <vt:lpstr>PowerPoint Presentation</vt:lpstr>
      <vt:lpstr>Diagramm De Class</vt:lpstr>
      <vt:lpstr>Diagramm De Séquence EN MVC Structure</vt:lpstr>
      <vt:lpstr>Ch3:Solutions Utilisées  et mise en place de l'application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younes</dc:creator>
  <cp:lastModifiedBy>younes</cp:lastModifiedBy>
  <cp:revision>49</cp:revision>
  <dcterms:created xsi:type="dcterms:W3CDTF">2021-08-03T16:23:58Z</dcterms:created>
  <dcterms:modified xsi:type="dcterms:W3CDTF">2021-08-04T23:43:29Z</dcterms:modified>
</cp:coreProperties>
</file>